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6"/>
    <p:sldId id="270" r:id="rId5"/>
    <p:sldId id="271" r:id="rId4"/>
    <p:sldId id="272" r:id="rId3"/>
    <p:sldId id="273" r:id="rId2"/>
    <p:sldId id="274" r:id="rId25"/>
    <p:sldId id="275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77"/>
    <p:restoredTop sz="97164"/>
  </p:normalViewPr>
  <p:slideViewPr>
    <p:cSldViewPr snapToGrid="0">
      <p:cViewPr varScale="1">
        <p:scale>
          <a:sx n="155" d="100"/>
          <a:sy n="155" d="100"/>
        </p:scale>
        <p:origin x="1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8.xml"/><Relationship Id="rId3" Type="http://schemas.openxmlformats.org/officeDocument/2006/relationships/slide" Target="slides/slide17.xml"/><Relationship Id="rId4" Type="http://schemas.openxmlformats.org/officeDocument/2006/relationships/slide" Target="slides/slide16.xml"/><Relationship Id="rId5" Type="http://schemas.openxmlformats.org/officeDocument/2006/relationships/slide" Target="slides/slide15.xml"/><Relationship Id="rId6" Type="http://schemas.openxmlformats.org/officeDocument/2006/relationships/slide" Target="slides/slide1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검색지수</c:v>
                </c:pt>
              </c:strCache>
            </c:strRef>
          </c:tx>
          <c:spPr>
            <a:ln w="31750">
              <a:solidFill>
                <a:srgbClr val="1456F0"/>
              </a:solidFill>
            </a:ln>
          </c:spPr>
          <c:marker>
            <c:symbol val="circle"/>
            <c:spPr>
              <a:solidFill>
                <a:srgbClr val="1456F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23.10</c:v>
                </c:pt>
                <c:pt idx="1">
                  <c:v>23.12</c:v>
                </c:pt>
                <c:pt idx="2">
                  <c:v>24.02</c:v>
                </c:pt>
                <c:pt idx="3">
                  <c:v>24.04</c:v>
                </c:pt>
                <c:pt idx="4">
                  <c:v>24.06</c:v>
                </c:pt>
                <c:pt idx="5">
                  <c:v>24.08</c:v>
                </c:pt>
                <c:pt idx="6">
                  <c:v>24.10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11</c:v>
                </c:pt>
                <c:pt idx="2">
                  <c:v>28</c:v>
                </c:pt>
                <c:pt idx="3">
                  <c:v>72</c:v>
                </c:pt>
                <c:pt idx="4">
                  <c:v>100</c:v>
                </c:pt>
                <c:pt idx="5">
                  <c:v>61</c:v>
                </c:pt>
                <c:pt idx="6">
                  <c:v>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E8E93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점포 수</c:v>
                </c:pt>
              </c:strCache>
            </c:strRef>
          </c:tx>
          <c:spPr>
            <a:solidFill>
              <a:srgbClr val="1456F0"/>
            </a:solidFill>
          </c:spPr>
          <c:cat>
            <c:strRef>
              <c:f>Sheet1!$A$2:$A$6</c:f>
              <c:strCache>
                <c:ptCount val="5"/>
                <c:pt idx="0">
                  <c:v>22 하반기</c:v>
                </c:pt>
                <c:pt idx="1">
                  <c:v>23 상반기</c:v>
                </c:pt>
                <c:pt idx="2">
                  <c:v>23 하반기</c:v>
                </c:pt>
                <c:pt idx="3">
                  <c:v>24 상반기</c:v>
                </c:pt>
                <c:pt idx="4">
                  <c:v>24 하반기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340</c:v>
                </c:pt>
                <c:pt idx="1">
                  <c:v>1200</c:v>
                </c:pt>
                <c:pt idx="2">
                  <c:v>2800</c:v>
                </c:pt>
                <c:pt idx="3">
                  <c:v>1750</c:v>
                </c:pt>
                <c:pt idx="4">
                  <c:v>820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E8E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1456F0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60A5FA"/>
              </a:solidFill>
              <a:ln w="254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7437D"/>
              </a:solidFill>
              <a:ln w="254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FDBFE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편의점</c:v>
                </c:pt>
                <c:pt idx="1">
                  <c:v>베이커리</c:v>
                </c:pt>
                <c:pt idx="2">
                  <c:v>카페</c:v>
                </c:pt>
                <c:pt idx="3">
                  <c:v>온라인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24</c:v>
                </c:pt>
                <c:pt idx="2">
                  <c:v>18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45515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탕후루</c:v>
                </c:pt>
              </c:strCache>
            </c:strRef>
          </c:tx>
          <c:spPr>
            <a:ln w="31750">
              <a:solidFill>
                <a:srgbClr val="1456F0"/>
              </a:solidFill>
            </a:ln>
          </c:spPr>
          <c:marker>
            <c:symbol val="circle"/>
            <c:spPr>
              <a:solidFill>
                <a:srgbClr val="1456F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T-6M</c:v>
                </c:pt>
                <c:pt idx="1">
                  <c:v>T-3M</c:v>
                </c:pt>
                <c:pt idx="2">
                  <c:v>T0</c:v>
                </c:pt>
                <c:pt idx="3">
                  <c:v>T+3M</c:v>
                </c:pt>
                <c:pt idx="4">
                  <c:v>T+6M</c:v>
                </c:pt>
                <c:pt idx="5">
                  <c:v>T+9M</c:v>
                </c:pt>
                <c:pt idx="6">
                  <c:v>T+12M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52</c:v>
                </c:pt>
                <c:pt idx="2">
                  <c:v>100</c:v>
                </c:pt>
                <c:pt idx="3">
                  <c:v>78</c:v>
                </c:pt>
                <c:pt idx="4">
                  <c:v>45</c:v>
                </c:pt>
                <c:pt idx="5">
                  <c:v>22</c:v>
                </c:pt>
                <c:pt idx="6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두바이초콜릿</c:v>
                </c:pt>
              </c:strCache>
            </c:strRef>
          </c:tx>
          <c:spPr>
            <a:ln w="31750">
              <a:solidFill>
                <a:srgbClr val="60A5FA"/>
              </a:solidFill>
            </a:ln>
          </c:spPr>
          <c:marker>
            <c:symbol val="circle"/>
            <c:spPr>
              <a:solidFill>
                <a:srgbClr val="60A5F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T-6M</c:v>
                </c:pt>
                <c:pt idx="1">
                  <c:v>T-3M</c:v>
                </c:pt>
                <c:pt idx="2">
                  <c:v>T0</c:v>
                </c:pt>
                <c:pt idx="3">
                  <c:v>T+3M</c:v>
                </c:pt>
                <c:pt idx="4">
                  <c:v>T+6M</c:v>
                </c:pt>
                <c:pt idx="5">
                  <c:v>T+9M</c:v>
                </c:pt>
                <c:pt idx="6">
                  <c:v>T+12M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45</c:v>
                </c:pt>
                <c:pt idx="2">
                  <c:v>100</c:v>
                </c:pt>
                <c:pt idx="3">
                  <c:v>61</c:v>
                </c:pt>
                <c:pt idx="4">
                  <c:v>28</c:v>
                </c:pt>
                <c:pt idx="5">
                  <c:v>14</c:v>
                </c:pt>
                <c:pt idx="6">
                  <c:v>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버터떡</c:v>
                </c:pt>
              </c:strCache>
            </c:strRef>
          </c:tx>
          <c:spPr>
            <a:ln w="31750">
              <a:solidFill>
                <a:srgbClr val="17437D"/>
              </a:solidFill>
            </a:ln>
          </c:spPr>
          <c:marker>
            <c:symbol val="circle"/>
            <c:spPr>
              <a:solidFill>
                <a:srgbClr val="17437D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T-6M</c:v>
                </c:pt>
                <c:pt idx="1">
                  <c:v>T-3M</c:v>
                </c:pt>
                <c:pt idx="2">
                  <c:v>T0</c:v>
                </c:pt>
                <c:pt idx="3">
                  <c:v>T+3M</c:v>
                </c:pt>
                <c:pt idx="4">
                  <c:v>T+6M</c:v>
                </c:pt>
                <c:pt idx="5">
                  <c:v>T+9M</c:v>
                </c:pt>
                <c:pt idx="6">
                  <c:v>T+12M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</c:v>
                </c:pt>
                <c:pt idx="1">
                  <c:v>38</c:v>
                </c:pt>
                <c:pt idx="2">
                  <c:v>100</c:v>
                </c:pt>
                <c:pt idx="3">
                  <c:v>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E8E93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45515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응답률</c:v>
                </c:pt>
              </c:strCache>
            </c:strRef>
          </c:tx>
          <c:spPr>
            <a:solidFill>
              <a:srgbClr val="1456F0"/>
            </a:solidFill>
          </c:spPr>
          <c:cat>
            <c:strRef>
              <c:f>Sheet1!$A$2:$A$6</c:f>
              <c:strCache>
                <c:ptCount val="5"/>
                <c:pt idx="0">
                  <c:v>호기심</c:v>
                </c:pt>
                <c:pt idx="1">
                  <c:v>인증샷</c:v>
                </c:pt>
                <c:pt idx="2">
                  <c:v>맛</c:v>
                </c:pt>
                <c:pt idx="3">
                  <c:v>희소성</c:v>
                </c:pt>
                <c:pt idx="4">
                  <c:v>가성비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28</c:v>
                </c:pt>
                <c:pt idx="2">
                  <c:v>19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E8E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두쫀쿠 버터떡</c:v>
                </c:pt>
              </c:strCache>
            </c:strRef>
          </c:tx>
          <c:spPr>
            <a:ln w="31750">
              <a:solidFill>
                <a:srgbClr val="1456F0"/>
              </a:solidFill>
            </a:ln>
          </c:spPr>
          <c:marker>
            <c:symbol val="circle"/>
            <c:spPr>
              <a:solidFill>
                <a:srgbClr val="1456F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2026 Q2</c:v>
                </c:pt>
                <c:pt idx="1">
                  <c:v>2026 Q3</c:v>
                </c:pt>
                <c:pt idx="2">
                  <c:v>2026 Q4</c:v>
                </c:pt>
                <c:pt idx="3">
                  <c:v>2027 Q1</c:v>
                </c:pt>
                <c:pt idx="4">
                  <c:v>2027 Q2</c:v>
                </c:pt>
                <c:pt idx="5">
                  <c:v>2027 Q3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55</c:v>
                </c:pt>
                <c:pt idx="2">
                  <c:v>38</c:v>
                </c:pt>
                <c:pt idx="3">
                  <c:v>24</c:v>
                </c:pt>
                <c:pt idx="4">
                  <c:v>15</c:v>
                </c:pt>
                <c:pt idx="5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흑임자 바스크치즈케이크</c:v>
                </c:pt>
              </c:strCache>
            </c:strRef>
          </c:tx>
          <c:spPr>
            <a:ln w="31750">
              <a:solidFill>
                <a:srgbClr val="60A5FA"/>
              </a:solidFill>
            </a:ln>
          </c:spPr>
          <c:marker>
            <c:symbol val="circle"/>
            <c:spPr>
              <a:solidFill>
                <a:srgbClr val="60A5F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2026 Q2</c:v>
                </c:pt>
                <c:pt idx="1">
                  <c:v>2026 Q3</c:v>
                </c:pt>
                <c:pt idx="2">
                  <c:v>2026 Q4</c:v>
                </c:pt>
                <c:pt idx="3">
                  <c:v>2027 Q1</c:v>
                </c:pt>
                <c:pt idx="4">
                  <c:v>2027 Q2</c:v>
                </c:pt>
                <c:pt idx="5">
                  <c:v>2027 Q3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41</c:v>
                </c:pt>
                <c:pt idx="2">
                  <c:v>63</c:v>
                </c:pt>
                <c:pt idx="3">
                  <c:v>79</c:v>
                </c:pt>
                <c:pt idx="4">
                  <c:v>85</c:v>
                </c:pt>
                <c:pt idx="5">
                  <c:v>72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E8E93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45515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pc="-6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pc="-60"/>
            </a:lvl1pPr>
          </a:lstStyle>
          <a:p>
            <a:fld id="{0A1EBAF3-FDE6-FC4D-8FF7-94F71BB5CE42}" type="datetimeFigureOut">
              <a:t>2026. 5. 4.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pc="-6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pc="-60"/>
            </a:lvl1pPr>
          </a:lstStyle>
          <a:p>
            <a:fld id="{574BDCBC-9A35-604A-A388-8D66AE1EB991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60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9212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your-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our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87" y="396875"/>
            <a:ext cx="847738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7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spc="-1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Pretendard" pitchFamily="34" charset="0"/>
        <a:buChar char="•"/>
        <a:defRPr sz="2667" spc="-133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Pretendard" pitchFamily="34" charset="0"/>
        <a:buChar char="–"/>
        <a:defRPr sz="2333" spc="-117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2000" spc="-1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Pretendard" pitchFamily="34" charset="0"/>
        <a:buChar char="–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Pretendard" pitchFamily="34" charset="0"/>
        <a:buChar char="»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000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0">
                <a:solidFill>
                  <a:srgbClr val="1456F0"/>
                </a:solidFill>
                <a:latin typeface="Pretendard"/>
              </a:rPr>
              <a:t>F&amp;B TREND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40280"/>
            <a:ext cx="10500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5400" b="1" spc="-270">
                <a:solidFill>
                  <a:srgbClr val="222222"/>
                </a:solidFill>
                <a:latin typeface="Pretendard"/>
              </a:rPr>
              <a:t>두쫀쿠, 버터떡</a:t>
            </a:r>
          </a:p>
          <a:p>
            <a:pPr algn="l"/>
            <a:r>
              <a:rPr sz="5400" b="1" spc="-270">
                <a:solidFill>
                  <a:srgbClr val="222222"/>
                </a:solidFill>
                <a:latin typeface="Pretendard"/>
              </a:rPr>
              <a:t>그 다음은 무엇일까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43400"/>
            <a:ext cx="640080" cy="6400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617720"/>
            <a:ext cx="9500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800" b="0" spc="-90">
                <a:solidFill>
                  <a:srgbClr val="45515E"/>
                </a:solidFill>
                <a:latin typeface="Pretendard"/>
              </a:rPr>
              <a:t>바이럴 디저트의 생애주기와 다음 트렌드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9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0">
                <a:solidFill>
                  <a:srgbClr val="8E8E93"/>
                </a:solidFill>
                <a:latin typeface="Pretendard"/>
              </a:rPr>
              <a:t>2026. 06   ·   Trend Lab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0">
                <a:solidFill>
                  <a:srgbClr val="8E8E93"/>
                </a:solidFill>
                <a:latin typeface="Pretendard"/>
              </a:rPr>
              <a:t>00 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이 보고서가 다루는 다섯 가지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각 섹션은 독립적으로 참조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55520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7200" y="2578104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7200" y="2255520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시장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00" y="2255520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한국 바이럴 디저트 시장의 규모와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7848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7200" y="3370432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7200" y="3047848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바이럴 디저트 연대기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00" y="3047848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약과부터 두쫀쿠까지 흐름 정리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176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07200" y="4162760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7200" y="3840176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SNS 확산 메커니즘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00" y="3840176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인증샷에서 오픈런까지 5단계 공식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32504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7200" y="4955088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7200" y="4632504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생애주기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00" y="4632504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붐-피크-소멸 패턴과 수명 예측 모델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24832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07200" y="5747416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77200" y="5424832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다음 트렌드 예측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00" y="5424832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시그널 기반 차기 유행 후보 3선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01  시장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한국 디저트·스낵 시장, 트렌드가 성장을 이끈다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바이럴 한 품목이 카테고리 전체 매출을 견인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소셜 버즈 추정 · 업계 인터뷰 종합 · 2025년 기준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87760"/>
            <a:ext cx="2613660" cy="23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7200" y="3187760"/>
            <a:ext cx="2013660" cy="19600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4000" b="1" spc="-200">
                <a:solidFill>
                  <a:srgbClr val="1456F0"/>
                </a:solidFill>
                <a:latin typeface="Pretendard"/>
              </a:rPr>
              <a:t>₩2.4조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1" spc="-70">
                <a:solidFill>
                  <a:srgbClr val="222222"/>
                </a:solidFill>
                <a:latin typeface="Pretendard"/>
              </a:rPr>
              <a:t>디저트 시장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spc="-50">
                <a:solidFill>
                  <a:srgbClr val="8E8E93"/>
                </a:solidFill>
                <a:latin typeface="Pretendard"/>
              </a:rPr>
              <a:t>2025년 추정 규모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180" y="2987760"/>
            <a:ext cx="2613660" cy="23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5180" y="3187760"/>
            <a:ext cx="2013660" cy="19600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4000" b="1" spc="0">
                <a:solidFill>
                  <a:srgbClr val="1456F0"/>
                </a:solidFill>
                <a:latin typeface="Pretendard"/>
              </a:rPr>
              <a:t>340+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1" spc="-70">
                <a:solidFill>
                  <a:srgbClr val="222222"/>
                </a:solidFill>
                <a:latin typeface="Pretendard"/>
              </a:rPr>
              <a:t>신제품 수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spc="-50">
                <a:solidFill>
                  <a:srgbClr val="8E8E93"/>
                </a:solidFill>
                <a:latin typeface="Pretendard"/>
              </a:rPr>
              <a:t>연간 바이럴 디저트 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2987760"/>
            <a:ext cx="2613660" cy="23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3160" y="3187760"/>
            <a:ext cx="2013660" cy="19600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4000" b="1" spc="-200">
                <a:solidFill>
                  <a:srgbClr val="1456F0"/>
                </a:solidFill>
                <a:latin typeface="Pretendard"/>
              </a:rPr>
              <a:t>8개월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1" spc="-70">
                <a:solidFill>
                  <a:srgbClr val="222222"/>
                </a:solidFill>
                <a:latin typeface="Pretendard"/>
              </a:rPr>
              <a:t>평균 수명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spc="-50">
                <a:solidFill>
                  <a:srgbClr val="8E8E93"/>
                </a:solidFill>
                <a:latin typeface="Pretendard"/>
              </a:rPr>
              <a:t>붐업-피크-소멸 주기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21140" y="2987760"/>
            <a:ext cx="2613660" cy="23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1140" y="3187760"/>
            <a:ext cx="2013660" cy="19600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4000" b="1" spc="-200">
                <a:solidFill>
                  <a:srgbClr val="1456F0"/>
                </a:solidFill>
                <a:latin typeface="Pretendard"/>
              </a:rPr>
              <a:t>12억+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1" spc="-70">
                <a:solidFill>
                  <a:srgbClr val="222222"/>
                </a:solidFill>
                <a:latin typeface="Pretendard"/>
              </a:rPr>
              <a:t>SNS 언급량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spc="-50">
                <a:solidFill>
                  <a:srgbClr val="8E8E93"/>
                </a:solidFill>
                <a:latin typeface="Pretendard"/>
              </a:rPr>
              <a:t>연간 디저트 해시태그 추정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02  바이럴 디저트 연대기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약과에서 두쫀쿠까지, 6년의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각 품목은 이전 트렌드의 피로감 위에서 탄생했다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OO리서치 추정 · 각 시기는 국내 피크 시점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64760"/>
            <a:ext cx="112776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32000" y="4102760"/>
            <a:ext cx="130000" cy="13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7200" y="2847760"/>
            <a:ext cx="1799600" cy="32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300" b="1" spc="0">
                <a:solidFill>
                  <a:srgbClr val="1456F0"/>
                </a:solidFill>
                <a:latin typeface="Pretendard"/>
              </a:rPr>
              <a:t>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200" y="3187760"/>
            <a:ext cx="1799600" cy="56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200" b="1" spc="-60">
                <a:solidFill>
                  <a:srgbClr val="222222"/>
                </a:solidFill>
                <a:latin typeface="Pretendard"/>
              </a:rPr>
              <a:t>약과 르네상스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200" y="4397760"/>
            <a:ext cx="1799600" cy="9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00" b="0" spc="-50">
                <a:solidFill>
                  <a:srgbClr val="45515E"/>
                </a:solidFill>
                <a:latin typeface="Pretendard"/>
              </a:rPr>
              <a:t>전통 한과의 힙한 재해석, MZ 유입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1600" y="4102760"/>
            <a:ext cx="130000" cy="13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6800" y="2847760"/>
            <a:ext cx="1799600" cy="32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300" b="1" spc="-65">
                <a:solidFill>
                  <a:srgbClr val="1456F0"/>
                </a:solidFill>
                <a:latin typeface="Pretendard"/>
              </a:rPr>
              <a:t>2022 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6800" y="3187760"/>
            <a:ext cx="1799600" cy="56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200" b="1" spc="-60">
                <a:solidFill>
                  <a:srgbClr val="222222"/>
                </a:solidFill>
                <a:latin typeface="Pretendard"/>
              </a:rPr>
              <a:t>탕후루 열풍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6800" y="4397760"/>
            <a:ext cx="1799600" cy="9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00" b="0" spc="-50">
                <a:solidFill>
                  <a:srgbClr val="45515E"/>
                </a:solidFill>
                <a:latin typeface="Pretendard"/>
              </a:rPr>
              <a:t>K-길거리 푸드, 전국 프랜차이즈화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1200" y="4102760"/>
            <a:ext cx="130000" cy="13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6400" y="2847760"/>
            <a:ext cx="1799600" cy="32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300" b="1" spc="-65">
                <a:solidFill>
                  <a:srgbClr val="1456F0"/>
                </a:solidFill>
                <a:latin typeface="Pretendard"/>
              </a:rPr>
              <a:t>2023 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6400" y="3187760"/>
            <a:ext cx="1799600" cy="56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200" b="1" spc="-60">
                <a:solidFill>
                  <a:srgbClr val="222222"/>
                </a:solidFill>
                <a:latin typeface="Pretendard"/>
              </a:rPr>
              <a:t>두바이 초콜릿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6400" y="4397760"/>
            <a:ext cx="1799600" cy="9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00" b="0" spc="-50">
                <a:solidFill>
                  <a:srgbClr val="45515E"/>
                </a:solidFill>
                <a:latin typeface="Pretendard"/>
              </a:rPr>
              <a:t>카다이프 식감, 수입 한정판 희소성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70800" y="4102760"/>
            <a:ext cx="130000" cy="13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6000" y="2847760"/>
            <a:ext cx="1799600" cy="32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300" b="1" spc="-65">
                <a:solidFill>
                  <a:srgbClr val="1456F0"/>
                </a:solidFill>
                <a:latin typeface="Pretendard"/>
              </a:rPr>
              <a:t>2024 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6000" y="3187760"/>
            <a:ext cx="1799600" cy="56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200" b="1" spc="-60">
                <a:solidFill>
                  <a:srgbClr val="222222"/>
                </a:solidFill>
                <a:latin typeface="Pretendard"/>
              </a:rPr>
              <a:t>크로플 확산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6000" y="4397760"/>
            <a:ext cx="1799600" cy="9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00" b="0" spc="-50">
                <a:solidFill>
                  <a:srgbClr val="45515E"/>
                </a:solidFill>
                <a:latin typeface="Pretendard"/>
              </a:rPr>
              <a:t>크루아상+와플, 카페 디저트 표준화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50400" y="4102760"/>
            <a:ext cx="130000" cy="13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5600" y="2847760"/>
            <a:ext cx="1799600" cy="32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300" b="1" spc="-65">
                <a:solidFill>
                  <a:srgbClr val="1456F0"/>
                </a:solidFill>
                <a:latin typeface="Pretendard"/>
              </a:rPr>
              <a:t>2024 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5600" y="3187760"/>
            <a:ext cx="1799600" cy="56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200" b="1" spc="-60">
                <a:solidFill>
                  <a:srgbClr val="222222"/>
                </a:solidFill>
                <a:latin typeface="Pretendard"/>
              </a:rPr>
              <a:t>버터떡 부상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5600" y="4397760"/>
            <a:ext cx="1799600" cy="9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00" b="0" spc="-50">
                <a:solidFill>
                  <a:srgbClr val="45515E"/>
                </a:solidFill>
                <a:latin typeface="Pretendard"/>
              </a:rPr>
              <a:t>고버터 쫀득감, 편의점 입점 가속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30000" y="4102760"/>
            <a:ext cx="130000" cy="13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5200" y="2847760"/>
            <a:ext cx="1799600" cy="32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300" b="1" spc="0">
                <a:solidFill>
                  <a:srgbClr val="1456F0"/>
                </a:solidFill>
                <a:latin typeface="Pretendard"/>
              </a:rPr>
              <a:t>2025~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5200" y="3187760"/>
            <a:ext cx="1799600" cy="560000"/>
          </a:xfrm>
          <a:prstGeom prst="rect">
            <a:avLst/>
          </a:prstGeom>
          <a:noFill/>
        </p:spPr>
        <p:txBody>
          <a:bodyPr wrap="square" anchor="b" lIns="0" rIns="0" tIns="0" bIns="0">
            <a:normAutofit/>
          </a:bodyPr>
          <a:lstStyle/>
          <a:p>
            <a:pPr algn="ctr"/>
            <a:r>
              <a:rPr sz="1200" b="1" spc="-60">
                <a:solidFill>
                  <a:srgbClr val="222222"/>
                </a:solidFill>
                <a:latin typeface="Pretendard"/>
              </a:rPr>
              <a:t>두쫀쿠 등장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5200" y="4397760"/>
            <a:ext cx="1799600" cy="9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00" b="0" spc="-50">
                <a:solidFill>
                  <a:srgbClr val="45515E"/>
                </a:solidFill>
                <a:latin typeface="Pretendard"/>
              </a:rPr>
              <a:t>두바이 초콜릿X쫀득쿠키 크로스오버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03  확산 메커니즘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바이럴 디저트는 어떻게 퍼지는가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발견에서 브랜드 미투까지, 반복되는 5단계 공식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소셜 버즈 추정 · 탕후루·버터떡 사례 분석 종합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17760"/>
            <a:ext cx="1999520" cy="21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00" y="3347760"/>
            <a:ext cx="159952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1" spc="0">
                <a:solidFill>
                  <a:srgbClr val="1456F0"/>
                </a:solidFill>
                <a:latin typeface="Pretendard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00" y="3737760"/>
            <a:ext cx="159952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발견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00" y="4297760"/>
            <a:ext cx="159952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-50">
                <a:solidFill>
                  <a:srgbClr val="45515E"/>
                </a:solidFill>
                <a:latin typeface="Pretendard"/>
              </a:rPr>
              <a:t>소수 얼리어답터, 로컬 팝업서 첫 접촉</a:t>
            </a:r>
          </a:p>
        </p:txBody>
      </p:sp>
      <p:sp>
        <p:nvSpPr>
          <p:cNvPr id="11" name="Chevron 10"/>
          <p:cNvSpPr/>
          <p:nvPr/>
        </p:nvSpPr>
        <p:spPr>
          <a:xfrm>
            <a:off x="2516720" y="4077760"/>
            <a:ext cx="200000" cy="180000"/>
          </a:xfrm>
          <a:prstGeom prst="chevron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76720" y="3117760"/>
            <a:ext cx="1999520" cy="21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6720" y="3347760"/>
            <a:ext cx="159952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1" spc="0">
                <a:solidFill>
                  <a:srgbClr val="1456F0"/>
                </a:solidFill>
                <a:latin typeface="Pretendard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6720" y="3737760"/>
            <a:ext cx="159952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인증샷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6720" y="4297760"/>
            <a:ext cx="159952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-50">
                <a:solidFill>
                  <a:srgbClr val="45515E"/>
                </a:solidFill>
                <a:latin typeface="Pretendard"/>
              </a:rPr>
              <a:t>비주얼 자극, 인스타 피드 도배 시작</a:t>
            </a:r>
          </a:p>
        </p:txBody>
      </p:sp>
      <p:sp>
        <p:nvSpPr>
          <p:cNvPr id="16" name="Chevron 15"/>
          <p:cNvSpPr/>
          <p:nvPr/>
        </p:nvSpPr>
        <p:spPr>
          <a:xfrm>
            <a:off x="4836240" y="4077760"/>
            <a:ext cx="200000" cy="180000"/>
          </a:xfrm>
          <a:prstGeom prst="chevron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6240" y="3117760"/>
            <a:ext cx="1999520" cy="21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40" y="3347760"/>
            <a:ext cx="159952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1" spc="0">
                <a:solidFill>
                  <a:srgbClr val="1456F0"/>
                </a:solidFill>
                <a:latin typeface="Pretendard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40" y="3737760"/>
            <a:ext cx="159952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숏폼 확산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6240" y="4297760"/>
            <a:ext cx="159952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-50">
                <a:solidFill>
                  <a:srgbClr val="45515E"/>
                </a:solidFill>
                <a:latin typeface="Pretendard"/>
              </a:rPr>
              <a:t>릴스·틱톡 먹방으로 전국 인지도 달성</a:t>
            </a:r>
          </a:p>
        </p:txBody>
      </p:sp>
      <p:sp>
        <p:nvSpPr>
          <p:cNvPr id="21" name="Chevron 20"/>
          <p:cNvSpPr/>
          <p:nvPr/>
        </p:nvSpPr>
        <p:spPr>
          <a:xfrm>
            <a:off x="7155760" y="4077760"/>
            <a:ext cx="200000" cy="180000"/>
          </a:xfrm>
          <a:prstGeom prst="chevron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15760" y="3117760"/>
            <a:ext cx="1999520" cy="21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5760" y="3347760"/>
            <a:ext cx="159952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1" spc="0">
                <a:solidFill>
                  <a:srgbClr val="1456F0"/>
                </a:solidFill>
                <a:latin typeface="Pretendard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5760" y="3737760"/>
            <a:ext cx="159952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오픈런·품절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5760" y="4297760"/>
            <a:ext cx="159952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-50">
                <a:solidFill>
                  <a:srgbClr val="45515E"/>
                </a:solidFill>
                <a:latin typeface="Pretendard"/>
              </a:rPr>
              <a:t>희소성 강화, 대기줄 뉴스화로 2차 버즈</a:t>
            </a:r>
          </a:p>
        </p:txBody>
      </p:sp>
      <p:sp>
        <p:nvSpPr>
          <p:cNvPr id="26" name="Chevron 25"/>
          <p:cNvSpPr/>
          <p:nvPr/>
        </p:nvSpPr>
        <p:spPr>
          <a:xfrm>
            <a:off x="9475280" y="4077760"/>
            <a:ext cx="200000" cy="180000"/>
          </a:xfrm>
          <a:prstGeom prst="chevron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35280" y="3117760"/>
            <a:ext cx="1999520" cy="21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5280" y="3347760"/>
            <a:ext cx="159952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1" spc="0">
                <a:solidFill>
                  <a:srgbClr val="1456F0"/>
                </a:solidFill>
                <a:latin typeface="Pretendard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5280" y="3737760"/>
            <a:ext cx="159952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브랜드 미투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5280" y="4297760"/>
            <a:ext cx="159952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-50">
                <a:solidFill>
                  <a:srgbClr val="45515E"/>
                </a:solidFill>
                <a:latin typeface="Pretendard"/>
              </a:rPr>
              <a:t>편의점·프랜차이즈 진입, 트렌드 소멸 신호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06  케이스 스터디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두바이초콜릿: 6개월 만의 급등과 급락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SNS 영상 한 편이 만든 검색 급등, 공급 과잉이 만든 급락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검색지수 100 = 최고점 기준 정규화 (Google Trends 추정, 2024)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255520"/>
          <a:ext cx="11277600" cy="382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07  케이스 스터디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탕후루 점포 수: 과열 후 자기잠식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2년 만에 정점 찍고 폐업률 60% 초과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프랜차이즈 정보공개서 및 상권분석 데이터 기반 추정 (2024)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255520"/>
          <a:ext cx="11277600" cy="382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08  현황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버터떡 판매 채널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편의점 주도, 베이커리·카페로 확산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업계 추정치 기반 채널 비중 (2025 상반기 기준)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255520"/>
          <a:ext cx="11277600" cy="382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09 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바이럴 디저트 수명주기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탕후루 18개월, 두바이초콜릿 6개월, 버터떡 진행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각 트렌드 정점을 T=0으로 정규화한 버즈 추정 곡선 (illustrative)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255520"/>
          <a:ext cx="11277600" cy="382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10  소비자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바이럴 디저트 구매 동인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호기심과 인증샷 욕구가 초기 수요의 절반 이상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10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온라인 설문 추정치, n=500, 복수응답 정규화 (2025 상반기)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255520"/>
          <a:ext cx="11277600" cy="382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11  판매 채널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편의점 vs 전문점, 채널 전략의 갈림길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바이럴 디저트의 유통 경로가 수명을 결정한다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11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채널 선택은 초기 확산 속도와 마진 구조를 동시에 규정한다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55520"/>
            <a:ext cx="5478780" cy="382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55520"/>
            <a:ext cx="5478780" cy="150000"/>
          </a:xfrm>
          <a:prstGeom prst="rect">
            <a:avLst/>
          </a:prstGeom>
          <a:solidFill>
            <a:srgbClr val="45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200" y="2575520"/>
            <a:ext cx="4878780" cy="48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700" b="1" spc="-85">
                <a:solidFill>
                  <a:srgbClr val="222222"/>
                </a:solidFill>
                <a:latin typeface="Pretendard"/>
              </a:rPr>
              <a:t>편의점 채널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00" y="3305520"/>
            <a:ext cx="90000" cy="90000"/>
          </a:xfrm>
          <a:prstGeom prst="roundRect">
            <a:avLst>
              <a:gd name="adj" fmla="val 50000"/>
            </a:avLst>
          </a:prstGeom>
          <a:solidFill>
            <a:srgbClr val="45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7200" y="3235520"/>
            <a:ext cx="465878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전국 5만+ 점포로 즉시 대중화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00" y="3945520"/>
            <a:ext cx="90000" cy="90000"/>
          </a:xfrm>
          <a:prstGeom prst="roundRect">
            <a:avLst>
              <a:gd name="adj" fmla="val 50000"/>
            </a:avLst>
          </a:prstGeom>
          <a:solidFill>
            <a:srgbClr val="45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7200" y="3875520"/>
            <a:ext cx="465878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PB 계약 시 마진 15~22% 수준으로 압박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00" y="4585520"/>
            <a:ext cx="90000" cy="90000"/>
          </a:xfrm>
          <a:prstGeom prst="roundRect">
            <a:avLst>
              <a:gd name="adj" fmla="val 50000"/>
            </a:avLst>
          </a:prstGeom>
          <a:solidFill>
            <a:srgbClr val="455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200" y="4515520"/>
            <a:ext cx="465878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신제품 교체 주기 4~8주로 수명 단축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6020" y="2255520"/>
            <a:ext cx="5478780" cy="382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6020" y="2255520"/>
            <a:ext cx="5478780" cy="15000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020" y="2575520"/>
            <a:ext cx="4878780" cy="48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700" b="1" spc="-85">
                <a:solidFill>
                  <a:srgbClr val="222222"/>
                </a:solidFill>
                <a:latin typeface="Pretendard"/>
              </a:rPr>
              <a:t>베이커리/전문점 채널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76020" y="3305520"/>
            <a:ext cx="90000" cy="9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76020" y="3235520"/>
            <a:ext cx="465878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희소성 유지로 SNS 재방문 수요 지속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6020" y="3945520"/>
            <a:ext cx="90000" cy="9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6020" y="3875520"/>
            <a:ext cx="465878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마진 38~55%로 수익성 우위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76020" y="4585520"/>
            <a:ext cx="90000" cy="9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76020" y="4515520"/>
            <a:ext cx="465878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직영·가맹 확장 전 브랜드 자산 축적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12  성공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바이럴 디저트 성공의 5가지 공통 법칙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두쫀쿠·탕후루·크로플이 공유한 구조적 특징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5개 요인이 동시 충족될 때 6개월 이상 생명주기가 관찰된다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55520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7200" y="2578104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7200" y="2255520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시각적 단절감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00" y="2255520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기존 카테고리와 명확히 구분되는 외형·질감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7848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7200" y="3370432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7200" y="3047848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15초 설명 가능성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00" y="3047848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숏폼 1컷으로 컨셉 전달이 완결되는 단순성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176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07200" y="4162760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7200" y="3840176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3,000~6,000원 심리 단가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00" y="3840176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충동 구매 허들을 넘지 않는 가격대 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32504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7200" y="4955088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7200" y="4632504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식감 + 풍미의 이중 자극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00" y="4632504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바삭·쫄깃 등 식감과 단맛·짠맛 대비 동시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24832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07200" y="5747416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77200" y="5424832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셀프 커스터마이징 여지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00" y="5424832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토핑·소스 조합으로 소비자 콘텐츠 생산 유도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13  실패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단명한 트렌드의 공통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반복 구매를 막은 결정적 약점을 유형화한다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13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수명 3개월 미만 트렌드는 '복잡성' 또는 '가격 저항'이 주요 원인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255520"/>
          <a:ext cx="11277600" cy="382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546354"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1" spc="-55">
                          <a:solidFill>
                            <a:srgbClr val="FFFFFF"/>
                          </a:solidFill>
                          <a:latin typeface="Pretendard"/>
                        </a:rPr>
                        <a:t>트렌드</a:t>
                      </a:r>
                    </a:p>
                  </a:txBody>
                  <a:tcPr anchor="ctr" marL="110000" marR="110000">
                    <a:solidFill>
                      <a:srgbClr val="222222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1" spc="-55">
                          <a:solidFill>
                            <a:srgbClr val="FFFFFF"/>
                          </a:solidFill>
                          <a:latin typeface="Pretendard"/>
                        </a:rPr>
                        <a:t>정점 시기</a:t>
                      </a:r>
                    </a:p>
                  </a:txBody>
                  <a:tcPr anchor="ctr" marL="110000" marR="110000">
                    <a:solidFill>
                      <a:srgbClr val="222222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1" spc="-55">
                          <a:solidFill>
                            <a:srgbClr val="FFFFFF"/>
                          </a:solidFill>
                          <a:latin typeface="Pretendard"/>
                        </a:rPr>
                        <a:t>수명</a:t>
                      </a:r>
                    </a:p>
                  </a:txBody>
                  <a:tcPr anchor="ctr" marL="110000" marR="110000">
                    <a:solidFill>
                      <a:srgbClr val="222222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1" spc="-55">
                          <a:solidFill>
                            <a:srgbClr val="FFFFFF"/>
                          </a:solidFill>
                          <a:latin typeface="Pretendard"/>
                        </a:rPr>
                        <a:t>단명 원인</a:t>
                      </a:r>
                    </a:p>
                  </a:txBody>
                  <a:tcPr anchor="ctr" marL="110000" marR="110000">
                    <a:solidFill>
                      <a:srgbClr val="222222"/>
                    </a:solidFill>
                  </a:tcPr>
                </a:tc>
              </a:tr>
              <a:tr h="546354"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1" spc="-55">
                          <a:solidFill>
                            <a:srgbClr val="222222"/>
                          </a:solidFill>
                          <a:latin typeface="Pretendard"/>
                        </a:rPr>
                        <a:t>탕후루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0">
                          <a:solidFill>
                            <a:srgbClr val="45515E"/>
                          </a:solidFill>
                          <a:latin typeface="Pretendard"/>
                        </a:rPr>
                        <a:t>2023 Q3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약 5개월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위생·당분 논란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1" spc="-55">
                          <a:solidFill>
                            <a:srgbClr val="222222"/>
                          </a:solidFill>
                          <a:latin typeface="Pretendard"/>
                        </a:rPr>
                        <a:t>두바이 초콜릿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0">
                          <a:solidFill>
                            <a:srgbClr val="45515E"/>
                          </a:solidFill>
                          <a:latin typeface="Pretendard"/>
                        </a:rPr>
                        <a:t>2024 Q1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약 3개월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고가·재현 난이도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</a:tr>
              <a:tr h="546354"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1" spc="-55">
                          <a:solidFill>
                            <a:srgbClr val="222222"/>
                          </a:solidFill>
                          <a:latin typeface="Pretendard"/>
                        </a:rPr>
                        <a:t>흑당 버블티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0">
                          <a:solidFill>
                            <a:srgbClr val="45515E"/>
                          </a:solidFill>
                          <a:latin typeface="Pretendard"/>
                        </a:rPr>
                        <a:t>2022 Q2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약 4개월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카피캣 과잉 공급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1" spc="-55">
                          <a:solidFill>
                            <a:srgbClr val="222222"/>
                          </a:solidFill>
                          <a:latin typeface="Pretendard"/>
                        </a:rPr>
                        <a:t>뚱카롱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0">
                          <a:solidFill>
                            <a:srgbClr val="45515E"/>
                          </a:solidFill>
                          <a:latin typeface="Pretendard"/>
                        </a:rPr>
                        <a:t>2021 Q4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약 6개월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단가 저항·포만감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</a:tr>
              <a:tr h="546354"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1" spc="-55">
                          <a:solidFill>
                            <a:srgbClr val="222222"/>
                          </a:solidFill>
                          <a:latin typeface="Pretendard"/>
                        </a:rPr>
                        <a:t>수플레 팬케이크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0">
                          <a:solidFill>
                            <a:srgbClr val="45515E"/>
                          </a:solidFill>
                          <a:latin typeface="Pretendard"/>
                        </a:rPr>
                        <a:t>2022 Q1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약 4개월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조리 복잡·배달 불가</a:t>
                      </a:r>
                    </a:p>
                  </a:txBody>
                  <a:tcPr anchor="ctr" marL="110000" marR="110000">
                    <a:solidFill>
                      <a:srgbClr val="FFFFFF"/>
                    </a:solidFill>
                  </a:tcPr>
                </a:tc>
              </a:tr>
              <a:tr h="546356"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1" spc="-55">
                          <a:solidFill>
                            <a:srgbClr val="222222"/>
                          </a:solidFill>
                          <a:latin typeface="Pretendard"/>
                        </a:rPr>
                        <a:t>마라탕 과자류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0">
                          <a:solidFill>
                            <a:srgbClr val="45515E"/>
                          </a:solidFill>
                          <a:latin typeface="Pretendard"/>
                        </a:rPr>
                        <a:t>2023 Q1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약 3개월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  <a:tc>
                  <a:txBody>
                    <a:bodyPr wrap="square" anchor="t" lIns="0" rIns="0" tIns="0" bIns="0"/>
                    <a:lstStyle/>
                    <a:p>
                      <a:pPr algn="l"/>
                      <a:r>
                        <a:rPr sz="1100" b="0" spc="-55">
                          <a:solidFill>
                            <a:srgbClr val="45515E"/>
                          </a:solidFill>
                          <a:latin typeface="Pretendard"/>
                        </a:rPr>
                        <a:t>자극 피로·반복 기피</a:t>
                      </a:r>
                    </a:p>
                  </a:txBody>
                  <a:tcPr anchor="ctr" marL="110000" marR="110000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14  다음 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다음 유행 디저트 5대 후보군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검색량·원물 수입 동향·SNS 초기 신호 기반 스크리닝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2025 Q3~Q4 이후 본격 확산 가능성 순으로 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55520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7200" y="2578104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7200" y="2255520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피스타치오 크림 도넛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00" y="2255520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중동·유럽발 수요 + 녹색 비주얼 숏폼 적합성 높음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7848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7200" y="3370432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7200" y="3047848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가래떡 그릴드 샌드위치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00" y="3047848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K-전통 + 서양식 조합, 식감 이중 자극 구조 충족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176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07200" y="4162760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7200" y="3840176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흑임자 소프트아이스크림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00" y="3840176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건강 이미지·시각 대비·저당 포지셔닝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32504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7200" y="4955088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7200" y="4632504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콩고물 크로와상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00" y="4632504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두쫀쿠 수요 이탈층 흡수, 재료 단가·공급망 안정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24832"/>
            <a:ext cx="9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07200" y="5747416"/>
            <a:ext cx="6000" cy="4551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77200" y="5424832"/>
            <a:ext cx="34000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유자 치즈 타르트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00" y="5424832"/>
            <a:ext cx="6577600" cy="655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신맛 트렌드 + 단가 4,500원 이하 설정 용이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15  후보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후보군 트렌드 적합도 점수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비주얼·단가·복제 난이도·반복 구매 4개 지표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15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피스타치오 도넛·가래떡 샌드위치가 종합 우위 — 선점 타이밍 2025 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55520"/>
            <a:ext cx="2900000" cy="644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피스타치오 크림 도넛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7200" y="2502968"/>
            <a:ext cx="7377600" cy="1500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7200" y="2502968"/>
            <a:ext cx="6197184" cy="15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4800" y="2255520"/>
            <a:ext cx="840000" cy="644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84%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7200" y="2657968"/>
            <a:ext cx="7377600" cy="3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0" spc="-45">
                <a:solidFill>
                  <a:srgbClr val="8E8E93"/>
                </a:solidFill>
                <a:latin typeface="Pretendard"/>
              </a:rPr>
              <a:t>비주얼·단가 모두 충족, 원물 수급이 유일 리스크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50416"/>
            <a:ext cx="2900000" cy="644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가래떡 그릴드 샌드위치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7200" y="3297864"/>
            <a:ext cx="7377600" cy="1500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7200" y="3297864"/>
            <a:ext cx="5828304" cy="15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94800" y="3050416"/>
            <a:ext cx="840000" cy="644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7200" y="3452864"/>
            <a:ext cx="7377600" cy="3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0" spc="-45">
                <a:solidFill>
                  <a:srgbClr val="8E8E93"/>
                </a:solidFill>
                <a:latin typeface="Pretendard"/>
              </a:rPr>
              <a:t>K-푸드 맥락 강점, 조리 표준화가 확장 관건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5312"/>
            <a:ext cx="2900000" cy="644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흑임자 소프트아이스크림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7200" y="4092760"/>
            <a:ext cx="7377600" cy="1500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57200" y="4092760"/>
            <a:ext cx="5238096" cy="15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94800" y="3845312"/>
            <a:ext cx="840000" cy="644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71%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7200" y="4247760"/>
            <a:ext cx="7377600" cy="3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0" spc="-45">
                <a:solidFill>
                  <a:srgbClr val="8E8E93"/>
                </a:solidFill>
                <a:latin typeface="Pretendard"/>
              </a:rPr>
              <a:t>건강 포지셔닝 유효하나 계절성 리스크 존재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40208"/>
            <a:ext cx="2900000" cy="644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콩고물 크로와상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7200" y="4887656"/>
            <a:ext cx="7377600" cy="1500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57200" y="4887656"/>
            <a:ext cx="4869216" cy="15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94800" y="4640208"/>
            <a:ext cx="840000" cy="644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66%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7200" y="5042656"/>
            <a:ext cx="7377600" cy="3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0" spc="-45">
                <a:solidFill>
                  <a:srgbClr val="8E8E93"/>
                </a:solidFill>
                <a:latin typeface="Pretendard"/>
              </a:rPr>
              <a:t>두쫀쿠 대체재 포지션, 독자 바이럴 트리거 약함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35104"/>
            <a:ext cx="2900000" cy="644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유자 치즈 타르트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7200" y="5682552"/>
            <a:ext cx="7377600" cy="1500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57200" y="5682552"/>
            <a:ext cx="4500336" cy="15000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94800" y="5435104"/>
            <a:ext cx="840000" cy="644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61%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7200" y="5837552"/>
            <a:ext cx="7377600" cy="3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0" spc="-45">
                <a:solidFill>
                  <a:srgbClr val="8E8E93"/>
                </a:solidFill>
                <a:latin typeface="Pretendard"/>
              </a:rPr>
              <a:t>신맛 피로도 변수, 브랜딩 차별화 필요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16  유력 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다음 바이럴 디저트, 유력 후보 Top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확산 잠재력·원가율·SNS 적합도 종합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평가 기준: SNS 언급량 증가율·제조 난이도·마진율 복합 산출 (Trend Lab, 2026.Q1)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87760"/>
            <a:ext cx="3576320" cy="23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7200" y="3187760"/>
            <a:ext cx="2976320" cy="19600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700" b="1" spc="-135">
                <a:solidFill>
                  <a:srgbClr val="1456F0"/>
                </a:solidFill>
                <a:latin typeface="Pretendard"/>
              </a:rPr>
              <a:t>흑임자 바스크치즈케이크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1" spc="-70">
                <a:solidFill>
                  <a:srgbClr val="222222"/>
                </a:solidFill>
                <a:latin typeface="Pretendard"/>
              </a:rPr>
              <a:t>1위 — 확산 지수 84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spc="-50">
                <a:solidFill>
                  <a:srgbClr val="8E8E93"/>
                </a:solidFill>
                <a:latin typeface="Pretendard"/>
              </a:rPr>
              <a:t>전통 재료·비주얼·카페 채널 동시 충족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840" y="2987760"/>
            <a:ext cx="3576320" cy="23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7840" y="3187760"/>
            <a:ext cx="2976320" cy="19600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700" b="1" spc="-135">
                <a:solidFill>
                  <a:srgbClr val="1456F0"/>
                </a:solidFill>
                <a:latin typeface="Pretendard"/>
              </a:rPr>
              <a:t>꿀버터 약과 타르트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1" spc="-70">
                <a:solidFill>
                  <a:srgbClr val="222222"/>
                </a:solidFill>
                <a:latin typeface="Pretendard"/>
              </a:rPr>
              <a:t>2위 — 확산 지수 71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spc="-50">
                <a:solidFill>
                  <a:srgbClr val="8E8E93"/>
                </a:solidFill>
                <a:latin typeface="Pretendard"/>
              </a:rPr>
              <a:t>약과 붐 연장선, 타르트로 변형 용이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480" y="2987760"/>
            <a:ext cx="3576320" cy="236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480" y="3187760"/>
            <a:ext cx="2976320" cy="19600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700" b="1" spc="-135">
                <a:solidFill>
                  <a:srgbClr val="1456F0"/>
                </a:solidFill>
                <a:latin typeface="Pretendard"/>
              </a:rPr>
              <a:t>소금 크림 찹쌀도넛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00" b="1" spc="-70">
                <a:solidFill>
                  <a:srgbClr val="222222"/>
                </a:solidFill>
                <a:latin typeface="Pretendard"/>
              </a:rPr>
              <a:t>3위 — 확산 지수 63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spc="-50">
                <a:solidFill>
                  <a:srgbClr val="8E8E93"/>
                </a:solidFill>
                <a:latin typeface="Pretendard"/>
              </a:rPr>
              <a:t>고물 식감 + 단짠 조합, 낮은 진입장벽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17  트렌드 예측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향후 18개월 관심도 예측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버터떡 감쇠 vs. 흑임자 바스크 부상 곡선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Google Trends 지수 기반 회귀 추정치 (2026.Q2 ~ 2027.Q3, 주간 평균 지수화)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255520"/>
          <a:ext cx="11277600" cy="382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18  액션 플랜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브랜드를 위한 바이럴 디저트 대응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신호 포착부터 철수까지, 5단계 실행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18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각 단계 소요 기간은 브랜드 규모·공급망 역량에 따라 조정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17760"/>
            <a:ext cx="1999520" cy="21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00" y="3347760"/>
            <a:ext cx="159952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1" spc="0">
                <a:solidFill>
                  <a:srgbClr val="1456F0"/>
                </a:solidFill>
                <a:latin typeface="Pretendard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00" y="3737760"/>
            <a:ext cx="159952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01 신호 모니터링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00" y="4297760"/>
            <a:ext cx="159952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-50">
                <a:solidFill>
                  <a:srgbClr val="45515E"/>
                </a:solidFill>
                <a:latin typeface="Pretendard"/>
              </a:rPr>
              <a:t>틱톡·인스타 해시태그·검색량 주간 트래킹</a:t>
            </a:r>
          </a:p>
        </p:txBody>
      </p:sp>
      <p:sp>
        <p:nvSpPr>
          <p:cNvPr id="11" name="Chevron 10"/>
          <p:cNvSpPr/>
          <p:nvPr/>
        </p:nvSpPr>
        <p:spPr>
          <a:xfrm>
            <a:off x="2516720" y="4077760"/>
            <a:ext cx="200000" cy="180000"/>
          </a:xfrm>
          <a:prstGeom prst="chevron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76720" y="3117760"/>
            <a:ext cx="1999520" cy="21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6720" y="3347760"/>
            <a:ext cx="159952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1" spc="0">
                <a:solidFill>
                  <a:srgbClr val="1456F0"/>
                </a:solidFill>
                <a:latin typeface="Pretendard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6720" y="3737760"/>
            <a:ext cx="159952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02 빠른 시제품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6720" y="4297760"/>
            <a:ext cx="159952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-50">
                <a:solidFill>
                  <a:srgbClr val="45515E"/>
                </a:solidFill>
                <a:latin typeface="Pretendard"/>
              </a:rPr>
              <a:t>피크 전 6~8주, 소규모 배치 레시피 확정</a:t>
            </a:r>
          </a:p>
        </p:txBody>
      </p:sp>
      <p:sp>
        <p:nvSpPr>
          <p:cNvPr id="16" name="Chevron 15"/>
          <p:cNvSpPr/>
          <p:nvPr/>
        </p:nvSpPr>
        <p:spPr>
          <a:xfrm>
            <a:off x="4836240" y="4077760"/>
            <a:ext cx="200000" cy="180000"/>
          </a:xfrm>
          <a:prstGeom prst="chevron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6240" y="3117760"/>
            <a:ext cx="1999520" cy="21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40" y="3347760"/>
            <a:ext cx="159952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1" spc="0">
                <a:solidFill>
                  <a:srgbClr val="1456F0"/>
                </a:solidFill>
                <a:latin typeface="Pretendard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40" y="3737760"/>
            <a:ext cx="159952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03 한정판 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6240" y="4297760"/>
            <a:ext cx="159952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-50">
                <a:solidFill>
                  <a:srgbClr val="45515E"/>
                </a:solidFill>
                <a:latin typeface="Pretendard"/>
              </a:rPr>
              <a:t>수량 제한으로 희소성 유지, 채널 1~2개 집중</a:t>
            </a:r>
          </a:p>
        </p:txBody>
      </p:sp>
      <p:sp>
        <p:nvSpPr>
          <p:cNvPr id="21" name="Chevron 20"/>
          <p:cNvSpPr/>
          <p:nvPr/>
        </p:nvSpPr>
        <p:spPr>
          <a:xfrm>
            <a:off x="7155760" y="4077760"/>
            <a:ext cx="200000" cy="180000"/>
          </a:xfrm>
          <a:prstGeom prst="chevron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15760" y="3117760"/>
            <a:ext cx="1999520" cy="21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5760" y="3347760"/>
            <a:ext cx="159952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1" spc="0">
                <a:solidFill>
                  <a:srgbClr val="1456F0"/>
                </a:solidFill>
                <a:latin typeface="Pretendard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5760" y="3737760"/>
            <a:ext cx="159952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04 숏폼 마케팅 집중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5760" y="4297760"/>
            <a:ext cx="159952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-50">
                <a:solidFill>
                  <a:srgbClr val="45515E"/>
                </a:solidFill>
                <a:latin typeface="Pretendard"/>
              </a:rPr>
              <a:t>릴스·틱톡 ASMR·단면 컷 콘텐츠 집중 배포</a:t>
            </a:r>
          </a:p>
        </p:txBody>
      </p:sp>
      <p:sp>
        <p:nvSpPr>
          <p:cNvPr id="26" name="Chevron 25"/>
          <p:cNvSpPr/>
          <p:nvPr/>
        </p:nvSpPr>
        <p:spPr>
          <a:xfrm>
            <a:off x="9475280" y="4077760"/>
            <a:ext cx="200000" cy="180000"/>
          </a:xfrm>
          <a:prstGeom prst="chevron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35280" y="3117760"/>
            <a:ext cx="1999520" cy="21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5280" y="3347760"/>
            <a:ext cx="159952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900" b="1" spc="0">
                <a:solidFill>
                  <a:srgbClr val="1456F0"/>
                </a:solidFill>
                <a:latin typeface="Pretendard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5280" y="3737760"/>
            <a:ext cx="1599520" cy="5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-65">
                <a:solidFill>
                  <a:srgbClr val="222222"/>
                </a:solidFill>
                <a:latin typeface="Pretendard"/>
              </a:rPr>
              <a:t>05 철수 타이밍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5280" y="4297760"/>
            <a:ext cx="159952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-50">
                <a:solidFill>
                  <a:srgbClr val="45515E"/>
                </a:solidFill>
                <a:latin typeface="Pretendard"/>
              </a:rPr>
              <a:t>검색량 20% 연속 하락 시 SKU 축소 착수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19  리스크 &amp;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실행 전 반드시 점검할 리스크와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과잉 투자·후발 진입 실패를 막는 이중 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19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체크리스트 미충족 항목 2개 이상 시 진입 시기 재검토 권고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15520"/>
            <a:ext cx="110000" cy="110000"/>
          </a:xfrm>
          <a:prstGeom prst="roundRect">
            <a:avLst>
              <a:gd name="adj" fmla="val 3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200" y="2255520"/>
            <a:ext cx="5198800" cy="42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 spc="-70">
                <a:solidFill>
                  <a:srgbClr val="222222"/>
                </a:solidFill>
                <a:latin typeface="Pretendard"/>
              </a:rPr>
              <a:t>트렌드 과대 편승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200" y="2685520"/>
            <a:ext cx="519880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100" b="0" spc="-55">
                <a:solidFill>
                  <a:srgbClr val="45515E"/>
                </a:solidFill>
                <a:latin typeface="Pretendard"/>
              </a:rPr>
              <a:t>검색량 피크 후 진입 시 재고·마진 손실 위험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15520"/>
            <a:ext cx="110000" cy="110000"/>
          </a:xfrm>
          <a:prstGeom prst="roundRect">
            <a:avLst>
              <a:gd name="adj" fmla="val 3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200" y="3455520"/>
            <a:ext cx="5198800" cy="42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 spc="-70">
                <a:solidFill>
                  <a:srgbClr val="222222"/>
                </a:solidFill>
                <a:latin typeface="Pretendard"/>
              </a:rPr>
              <a:t>공급망 병목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200" y="3885520"/>
            <a:ext cx="519880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100" b="0" spc="-55">
                <a:solidFill>
                  <a:srgbClr val="45515E"/>
                </a:solidFill>
                <a:latin typeface="Pretendard"/>
              </a:rPr>
              <a:t>흑임자 등 특수 원료 수급 지연, 원가 급등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15520"/>
            <a:ext cx="110000" cy="110000"/>
          </a:xfrm>
          <a:prstGeom prst="roundRect">
            <a:avLst>
              <a:gd name="adj" fmla="val 3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200" y="4655520"/>
            <a:ext cx="5198800" cy="42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 spc="-70">
                <a:solidFill>
                  <a:srgbClr val="222222"/>
                </a:solidFill>
                <a:latin typeface="Pretendard"/>
              </a:rPr>
              <a:t>브랜드 희석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200" y="5085520"/>
            <a:ext cx="519880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100" b="0" spc="-55">
                <a:solidFill>
                  <a:srgbClr val="45515E"/>
                </a:solidFill>
                <a:latin typeface="Pretendard"/>
              </a:rPr>
              <a:t>주력 메뉴 포지셔닝과 충돌 시 이미지 분산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6000" y="2315520"/>
            <a:ext cx="110000" cy="110000"/>
          </a:xfrm>
          <a:prstGeom prst="roundRect">
            <a:avLst>
              <a:gd name="adj" fmla="val 3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6000" y="2255520"/>
            <a:ext cx="5198800" cy="42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 spc="-70">
                <a:solidFill>
                  <a:srgbClr val="222222"/>
                </a:solidFill>
                <a:latin typeface="Pretendard"/>
              </a:rPr>
              <a:t>관심도 지수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6000" y="2685520"/>
            <a:ext cx="519880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100" b="0" spc="-55">
                <a:solidFill>
                  <a:srgbClr val="45515E"/>
                </a:solidFill>
                <a:latin typeface="Pretendard"/>
              </a:rPr>
              <a:t>출시 시점 Google Trends 지수 50 이상 유지 여부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6000" y="3515520"/>
            <a:ext cx="110000" cy="110000"/>
          </a:xfrm>
          <a:prstGeom prst="roundRect">
            <a:avLst>
              <a:gd name="adj" fmla="val 3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6000" y="3455520"/>
            <a:ext cx="5198800" cy="42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 spc="-70">
                <a:solidFill>
                  <a:srgbClr val="222222"/>
                </a:solidFill>
                <a:latin typeface="Pretendard"/>
              </a:rPr>
              <a:t>원가율 사전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6000" y="3885520"/>
            <a:ext cx="519880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100" b="0" spc="-55">
                <a:solidFill>
                  <a:srgbClr val="45515E"/>
                </a:solidFill>
                <a:latin typeface="Pretendard"/>
              </a:rPr>
              <a:t>목표 원가율 35% 이하 달성 가능 레시피 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6000" y="4715520"/>
            <a:ext cx="110000" cy="110000"/>
          </a:xfrm>
          <a:prstGeom prst="roundRect">
            <a:avLst>
              <a:gd name="adj" fmla="val 3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6000" y="4655520"/>
            <a:ext cx="5198800" cy="42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 spc="-70">
                <a:solidFill>
                  <a:srgbClr val="222222"/>
                </a:solidFill>
                <a:latin typeface="Pretendard"/>
              </a:rPr>
              <a:t>철수 기준 사전 합의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6000" y="5085520"/>
            <a:ext cx="519880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100" b="0" spc="-55">
                <a:solidFill>
                  <a:srgbClr val="45515E"/>
                </a:solidFill>
                <a:latin typeface="Pretendard"/>
              </a:rPr>
              <a:t>월 판매량 기준선 및 단종 트리거 내부 합의 완료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20 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바이럴 디저트 트렌드, 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생애주기를 이해하는 브랜드만이 수익을 가져간다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20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Trend Lab Research · 한국 F&amp;B 바이럴 트렌드 보고서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55520"/>
            <a:ext cx="11277600" cy="1700000"/>
          </a:xfrm>
          <a:prstGeom prst="roundRect">
            <a:avLst>
              <a:gd name="adj" fmla="val 55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200" y="2255520"/>
            <a:ext cx="10437600" cy="17000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600" b="1" spc="-130">
                <a:solidFill>
                  <a:srgbClr val="FFFFFF"/>
                </a:solidFill>
                <a:latin typeface="Pretendard"/>
              </a:rPr>
              <a:t>트렌드는 6~12개월 안에 소멸한다. 진입보다 타이밍이 수익을 결정한다.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55520"/>
            <a:ext cx="3559200" cy="182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200" y="4455520"/>
            <a:ext cx="307920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200" y="4835520"/>
            <a:ext cx="3079200" cy="112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다음 유력 후보는 흑임자 바스크치즈케이크 — 2026 Q3~Q4 피크 도달 예측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6400" y="4255520"/>
            <a:ext cx="3559200" cy="182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400" y="4455520"/>
            <a:ext cx="307920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400" y="4835520"/>
            <a:ext cx="3079200" cy="112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성공 공식: 신호 포착 6주 내 시제품, 숏폼 집중, 검색량 하락 즉시 SKU 축소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5600" y="4255520"/>
            <a:ext cx="3559200" cy="182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5600" y="4455520"/>
            <a:ext cx="307920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5600" y="4835520"/>
            <a:ext cx="3079200" cy="112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리스크 관리 없는 후발 진입은 재고 손실로 직결 — 철수 기준을 먼저 정하라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2869</Words>
  <Application>Microsoft Macintosh PowerPoint</Application>
  <PresentationFormat>와이드스크린</PresentationFormat>
  <Paragraphs>429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Pretendard</vt:lpstr>
      <vt:lpstr>Arial</vt:lpstr>
      <vt:lpstr>Calibri</vt:lpstr>
      <vt:lpstr>2_Office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Kim</dc:creator>
  <cp:lastModifiedBy>Matthew Kim</cp:lastModifiedBy>
  <cp:revision>2</cp:revision>
  <dcterms:created xsi:type="dcterms:W3CDTF">2026-05-01T14:56:49Z</dcterms:created>
  <dcterms:modified xsi:type="dcterms:W3CDTF">2026-05-04T07:14:27Z</dcterms:modified>
</cp:coreProperties>
</file>