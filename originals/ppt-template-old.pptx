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notesSlides/notesSlide15.xml" ContentType="application/vnd.openxmlformats-officedocument.presentationml.notesSlide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ppt/charts/chart1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1338" r:id="rId25"/>
    <p:sldId id="1336" r:id="rId2"/>
    <p:sldId id="1263" r:id="rId3"/>
    <p:sldId id="1333" r:id="rId4"/>
    <p:sldId id="1334" r:id="rId5"/>
    <p:sldId id="1335" r:id="rId6"/>
    <p:sldId id="1337" r:id="rId7"/>
    <p:sldId id="1264" r:id="rId8"/>
    <p:sldId id="1265" r:id="rId9"/>
    <p:sldId id="1266" r:id="rId10"/>
    <p:sldId id="1267" r:id="rId11"/>
    <p:sldId id="1268" r:id="rId12"/>
    <p:sldId id="1271" r:id="rId13"/>
    <p:sldId id="1273" r:id="rId14"/>
    <p:sldId id="1272" r:id="rId15"/>
    <p:sldId id="1274" r:id="rId16"/>
    <p:sldId id="1275" r:id="rId17"/>
    <p:sldId id="1276" r:id="rId18"/>
    <p:sldId id="1277" r:id="rId19"/>
    <p:sldId id="1339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spc="-9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77"/>
    <p:restoredTop sz="97164"/>
  </p:normalViewPr>
  <p:slideViewPr>
    <p:cSldViewPr snapToGrid="0">
      <p:cViewPr varScale="1">
        <p:scale>
          <a:sx n="155" d="100"/>
          <a:sy n="155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Stores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743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E3-BC4C-8235-6D7DC4F5B2A8}"/>
              </c:ext>
            </c:extLst>
          </c:dPt>
          <c:dPt>
            <c:idx val="1"/>
            <c:bubble3D val="0"/>
            <c:spPr>
              <a:solidFill>
                <a:srgbClr val="145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E3-BC4C-8235-6D7DC4F5B2A8}"/>
              </c:ext>
            </c:extLst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E3-BC4C-8235-6D7DC4F5B2A8}"/>
              </c:ext>
            </c:extLst>
          </c:dPt>
          <c:dPt>
            <c:idx val="3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E3-BC4C-8235-6D7DC4F5B2A8}"/>
              </c:ext>
            </c:extLst>
          </c:dPt>
          <c:dPt>
            <c:idx val="4"/>
            <c:bubble3D val="0"/>
            <c:spPr>
              <a:solidFill>
                <a:srgbClr val="BFDB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E3-BC4C-8235-6D7DC4F5B2A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spc="-55" b="1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E3-BC4C-8235-6D7DC4F5B2A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spc="-55" b="1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E3-BC4C-8235-6D7DC4F5B2A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spc="-55" b="1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E3-BC4C-8235-6D7DC4F5B2A8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spc="-55" b="1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9E3-BC4C-8235-6D7DC4F5B2A8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spc="-55" b="1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9E3-BC4C-8235-6D7DC4F5B2A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spc="-90" b="1" i="0" u="none" strike="noStrike">
                    <a:solidFill>
                      <a:srgbClr val="000000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이디야 (3,005)</c:v>
                </c:pt>
                <c:pt idx="1">
                  <c:v>메가커피 (1,593)</c:v>
                </c:pt>
                <c:pt idx="2">
                  <c:v>컴포즈 (1,285)</c:v>
                </c:pt>
                <c:pt idx="3">
                  <c:v>빽다방 (971)</c:v>
                </c:pt>
                <c:pt idx="4">
                  <c:v>더벤티 (756)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3005</c:v>
                </c:pt>
                <c:pt idx="1">
                  <c:v>1593</c:v>
                </c:pt>
                <c:pt idx="2">
                  <c:v>1285</c:v>
                </c:pt>
                <c:pt idx="3">
                  <c:v>971</c:v>
                </c:pt>
                <c:pt idx="4">
                  <c:v>756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9E3-BC4C-8235-6D7DC4F5B2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 spc="-50">
              <a:solidFill>
                <a:srgbClr val="45515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증가율</c:v>
                </c:pt>
              </c:strCache>
            </c:strRef>
          </c:tx>
          <c:spPr>
            <a:solidFill>
              <a:srgbClr val="EA5EC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spc="-6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컴포즈커피</c:v>
                </c:pt>
                <c:pt idx="1">
                  <c:v>더벤티</c:v>
                </c:pt>
                <c:pt idx="2">
                  <c:v>메가MGC커피</c:v>
                </c:pt>
                <c:pt idx="3">
                  <c:v>빽다방</c:v>
                </c:pt>
                <c:pt idx="4">
                  <c:v>이디야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</c:v>
                </c:pt>
                <c:pt idx="1">
                  <c:v>50</c:v>
                </c:pt>
                <c:pt idx="2">
                  <c:v>35</c:v>
                </c:pt>
                <c:pt idx="3">
                  <c:v>35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CA-2D4F-8A00-1322FFDD42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spc="-60" b="1" i="0" u="none" strike="noStrike">
                <a:solidFill>
                  <a:srgbClr val="22222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외식 프랜차이즈 가맹점 수</c:v>
                </c:pt>
              </c:strCache>
            </c:strRef>
          </c:tx>
          <c:spPr>
            <a:ln w="38100" cap="flat">
              <a:solidFill>
                <a:srgbClr val="1456F0"/>
              </a:solidFill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rgbClr val="1456F0"/>
              </a:solidFill>
              <a:ln w="25400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spc="-5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167770</c:v>
                </c:pt>
                <c:pt idx="1">
                  <c:v>173420</c:v>
                </c:pt>
                <c:pt idx="2">
                  <c:v>179923</c:v>
                </c:pt>
                <c:pt idx="3">
                  <c:v>180942</c:v>
                </c:pt>
                <c:pt idx="4">
                  <c:v>183714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270-A14D-ADD2-C7C8D852ABD8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spc="-5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0000"/>
          <c:min val="1600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bhc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spc="-4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5075</c:v>
                </c:pt>
                <c:pt idx="1">
                  <c:v>5356</c:v>
                </c:pt>
                <c:pt idx="2">
                  <c:v>5127</c:v>
                </c:pt>
                <c:pt idx="3">
                  <c:v>6147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A3-0642-ACA1-7A5DC21785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BBQ</c:v>
                </c:pt>
              </c:strCache>
            </c:strRef>
          </c:tx>
          <c:spPr>
            <a:solidFill>
              <a:srgbClr val="3B82F6">
                <a:alpha val="84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spc="-4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4188</c:v>
                </c:pt>
                <c:pt idx="1">
                  <c:v>4731</c:v>
                </c:pt>
                <c:pt idx="2">
                  <c:v>5061</c:v>
                </c:pt>
                <c:pt idx="3">
                  <c:v>5278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A3-0642-ACA1-7A5DC21785B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교촌</c:v>
                </c:pt>
              </c:strCache>
            </c:strRef>
          </c:tx>
          <c:spPr>
            <a:solidFill>
              <a:srgbClr val="60A5FA">
                <a:alpha val="55902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spc="-4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4988</c:v>
                </c:pt>
                <c:pt idx="1">
                  <c:v>4259</c:v>
                </c:pt>
                <c:pt idx="2">
                  <c:v>4804</c:v>
                </c:pt>
                <c:pt idx="3">
                  <c:v>5174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A3-0642-ACA1-7A5DC21785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spc="-5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 spc="-55">
              <a:solidFill>
                <a:srgbClr val="45515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가맹점 수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spc="-6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BBQ</c:v>
                </c:pt>
                <c:pt idx="1">
                  <c:v>bhc</c:v>
                </c:pt>
                <c:pt idx="2">
                  <c:v>교촌치킨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2316</c:v>
                </c:pt>
                <c:pt idx="1">
                  <c:v>2228</c:v>
                </c:pt>
                <c:pt idx="2">
                  <c:v>1361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BA-EF45-AFD8-54D0F29B84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spc="-65" b="1" i="0" u="none" strike="noStrike">
                <a:solidFill>
                  <a:srgbClr val="22222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점포당 평균 매출액</c:v>
                </c:pt>
              </c:strCache>
            </c:strRef>
          </c:tx>
          <c:spPr>
            <a:solidFill>
              <a:srgbClr val="EA5E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spc="-60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교촌치킨</c:v>
                </c:pt>
                <c:pt idx="1">
                  <c:v>bhc</c:v>
                </c:pt>
                <c:pt idx="2">
                  <c:v>BBQ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72726</c:v>
                </c:pt>
                <c:pt idx="1">
                  <c:v>52972</c:v>
                </c:pt>
                <c:pt idx="2">
                  <c:v>49684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A2-6449-A867-A6A42D390A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spc="-65" b="1" i="0" u="none" strike="noStrike">
                <a:solidFill>
                  <a:srgbClr val="22222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000"/>
          <c:min val="0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45515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사용률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spc="-55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중국</c:v>
                </c:pt>
                <c:pt idx="1">
                  <c:v>미국</c:v>
                </c:pt>
                <c:pt idx="2">
                  <c:v>독일</c:v>
                </c:pt>
                <c:pt idx="3">
                  <c:v>한국</c:v>
                </c:pt>
                <c:pt idx="4">
                  <c:v>일본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81.2</c:v>
                </c:pt>
                <c:pt idx="1">
                  <c:v>68.8</c:v>
                </c:pt>
                <c:pt idx="2">
                  <c:v>59.2</c:v>
                </c:pt>
                <c:pt idx="3">
                  <c:v>30</c:v>
                </c:pt>
                <c:pt idx="4">
                  <c:v>26.7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12-1A4C-93DC-F96C83DD75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spc="-55" b="1" i="0" u="none" strike="noStrike">
                <a:solidFill>
                  <a:srgbClr val="22222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F2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낙관도 (%)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spc="-52" b="1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중국</c:v>
                </c:pt>
                <c:pt idx="1">
                  <c:v>인도네시아</c:v>
                </c:pt>
                <c:pt idx="2">
                  <c:v>말레이시아</c:v>
                </c:pt>
                <c:pt idx="3">
                  <c:v>일본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69</c:v>
                </c:pt>
                <c:pt idx="2">
                  <c:v>68</c:v>
                </c:pt>
                <c:pt idx="3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FA-234D-AAEE-8A623DA400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spc="-52" b="1" i="0" u="none" strike="noStrike">
                <a:solidFill>
                  <a:srgbClr val="222222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F2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456F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spc="-45" b="0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2025</c:v>
                </c:pt>
                <c:pt idx="4">
                  <c:v>2026E</c:v>
                </c:pt>
                <c:pt idx="5">
                  <c:v>2028E</c:v>
                </c:pt>
                <c:pt idx="6">
                  <c:v>2030E</c:v>
                </c:pt>
                <c:pt idx="7">
                  <c:v>2032E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115</c:v>
                </c:pt>
                <c:pt idx="1">
                  <c:v>128</c:v>
                </c:pt>
                <c:pt idx="2">
                  <c:v>138</c:v>
                </c:pt>
                <c:pt idx="3">
                  <c:v>143</c:v>
                </c:pt>
                <c:pt idx="4">
                  <c:v>150</c:v>
                </c:pt>
                <c:pt idx="5">
                  <c:v>168</c:v>
                </c:pt>
                <c:pt idx="6">
                  <c:v>186</c:v>
                </c:pt>
                <c:pt idx="7">
                  <c:v>202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3B-3F48-A28F-C94C4A19031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2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spc="-45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Format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56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F5-F643-ADD6-7F7A33E89CD3}"/>
              </c:ext>
            </c:extLst>
          </c:dPt>
          <c:dPt>
            <c:idx val="1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F5-F643-ADD6-7F7A33E89CD3}"/>
              </c:ext>
            </c:extLst>
          </c:dPt>
          <c:dPt>
            <c:idx val="2"/>
            <c:bubble3D val="0"/>
            <c:spPr>
              <a:solidFill>
                <a:srgbClr val="17437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F5-F643-ADD6-7F7A33E89CD3}"/>
              </c:ext>
            </c:extLst>
          </c:dPt>
          <c:dPt>
            <c:idx val="3"/>
            <c:bubble3D val="0"/>
            <c:spPr>
              <a:solidFill>
                <a:srgbClr val="F0F0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F5-F643-ADD6-7F7A33E89CD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spc="-50" b="0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F5-F643-ADD6-7F7A33E89CD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spc="-50" b="0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F5-F643-ADD6-7F7A33E89CD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spc="-50" b="0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F5-F643-ADD6-7F7A33E89CD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spc="-50" b="0" i="0" u="none" strike="noStrike">
                      <a:solidFill>
                        <a:srgbClr val="FFFFFF"/>
                      </a:solidFill>
                      <a:latin typeface="Pretendard"/>
                    </a:defRPr>
                  </a:pPr>
                  <a:endParaRPr lang="ko-K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F5-F643-ADD6-7F7A33E89CD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spc="-90" b="0" i="0" u="none" strike="noStrike">
                    <a:solidFill>
                      <a:srgbClr val="000000"/>
                    </a:solidFill>
                    <a:latin typeface="Pretendard"/>
                  </a:defRPr>
                </a:pPr>
                <a:endParaRPr lang="ko-K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종이책 (Print)</c:v>
                </c:pt>
                <c:pt idx="1">
                  <c:v>전자책 (eBook)</c:v>
                </c:pt>
                <c:pt idx="2">
                  <c:v>오디오북 (Audio)</c:v>
                </c:pt>
                <c:pt idx="3">
                  <c:v>기타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22</c:v>
                </c:pt>
                <c:pt idx="2">
                  <c:v>11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F5-F643-ADD6-7F7A33E89C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Audiobook revenue</c:v>
                </c:pt>
              </c:strCache>
            </c:strRef>
          </c:tx>
          <c:spPr>
            <a:ln w="50800" cap="flat">
              <a:solidFill>
                <a:srgbClr val="1456F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1456F0"/>
              </a:solidFill>
              <a:ln w="9525" cap="flat">
                <a:solidFill>
                  <a:srgbClr val="1456F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spc="-45" b="0" i="0" u="none" strike="noStrike">
                    <a:solidFill>
                      <a:srgbClr val="222222"/>
                    </a:solidFill>
                    <a:latin typeface="Pretendard"/>
                  </a:defRPr>
                </a:pPr>
                <a:endParaRPr lang="ko-K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2027E</c:v>
                </c:pt>
                <c:pt idx="5">
                  <c:v>2028E</c:v>
                </c:pt>
                <c:pt idx="6">
                  <c:v>2029E</c:v>
                </c:pt>
                <c:pt idx="7">
                  <c:v>2030E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6.8</c:v>
                </c:pt>
                <c:pt idx="1">
                  <c:v>8.6999999999999993</c:v>
                </c:pt>
                <c:pt idx="2">
                  <c:v>7.85</c:v>
                </c:pt>
                <c:pt idx="3">
                  <c:v>8.68</c:v>
                </c:pt>
                <c:pt idx="4">
                  <c:v>14</c:v>
                </c:pt>
                <c:pt idx="5">
                  <c:v>20</c:v>
                </c:pt>
                <c:pt idx="6">
                  <c:v>27</c:v>
                </c:pt>
                <c:pt idx="7">
                  <c:v>35.47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228-DF43-BEDA-7ADC3472AF09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spc="-50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2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spc="-50" b="0" i="0" u="none" strike="noStrike">
                <a:solidFill>
                  <a:srgbClr val="8E8E9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pc="-60"/>
            </a:lvl1pPr>
          </a:lstStyle>
          <a:p>
            <a:fld id="{0A1EBAF3-FDE6-FC4D-8FF7-94F71BB5CE42}" type="datetimeFigureOut">
              <a:t>2026. 5. 4.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pc="-6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pc="-60"/>
            </a:lvl1pPr>
          </a:lstStyle>
          <a:p>
            <a:fld id="{574BDCBC-9A35-604A-A388-8D66AE1EB991}" type="slidenum"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60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spc="-6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110004020202020204"/>
                <a:ea typeface="Pretendard" pitchFamily="2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110004020202020204"/>
              <a:ea typeface="Pretendard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921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3" Type="http://schemas.openxmlformats.org/officeDocument/2006/relationships/image" Target="../media/your-logo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our-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287" y="396875"/>
            <a:ext cx="847738" cy="17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75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spc="-1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667" spc="-133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Pretendard" pitchFamily="34" charset="0"/>
        <a:buChar char="–"/>
        <a:defRPr sz="2333" spc="-117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2000" spc="-1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Pretendard" pitchFamily="34" charset="0"/>
        <a:buChar char="–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Pretendard" pitchFamily="34" charset="0"/>
        <a:buChar char="»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Pretendard" pitchFamily="34" charset="0"/>
        <a:buChar char="•"/>
        <a:defRPr sz="1667" spc="-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spc="-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커피 양극화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저가 커피 가맹점은 1년 사이 27% 증가, 7,610개 시대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502920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저가 커피 빅5 가맹점 점유 (2022년)</a:t>
            </a:r>
            <a:endParaRPr kumimoji="0" lang="en-US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개 (전체 7,610개)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1698957253"/>
              </p:ext>
            </p:extLst>
          </p:nvPr>
        </p:nvGraphicFramePr>
        <p:xfrm>
          <a:off x="640080" y="3063240"/>
          <a:ext cx="4663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594360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공정거래위원회 가맹사업 정보공개서 (2022)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650992" y="2240280"/>
            <a:ext cx="608076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25312" y="242316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저가 커피 브랜드별 가맹점 증가율 (전년 대비)</a:t>
            </a:r>
            <a:endParaRPr kumimoji="0" lang="en-US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5925312" y="274320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%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14" name="Chart 1"/>
          <p:cNvGraphicFramePr/>
          <p:nvPr/>
        </p:nvGraphicFramePr>
        <p:xfrm>
          <a:off x="5833872" y="3063240"/>
          <a:ext cx="5715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10"/>
          <p:cNvSpPr/>
          <p:nvPr/>
        </p:nvSpPr>
        <p:spPr>
          <a:xfrm>
            <a:off x="5925312" y="5943600"/>
            <a:ext cx="5532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공정거래위원회 가맹사업 정보공개서 (2022)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/ 11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컴포즈커피 +77%·더벤티 +50% — 메가·빽다방을 추격하는 신흥 빅5 구도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9ED26280-B0F1-2430-8CEB-FB6A6DB792E9}"/>
              </a:ext>
            </a:extLst>
          </p:cNvPr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이디야 옆 메가커피, 메가커피 옆 컴포즈 - 출점 전략의 표준이 된 인접 입점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시장 규모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외식업 프랜차이즈, 5년 연속 증가하며 18만 4천 개 돌파.</a:t>
            </a:r>
            <a:endParaRPr kumimoji="0" lang="en-US" sz="3000" spc="-1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320040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432145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외식 프랜차이즈 가맹점</a:t>
            </a:r>
            <a:r>
              <a:rPr kumimoji="0" lang="ko-KR" alt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수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6349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183,714</a:t>
            </a:r>
            <a:endParaRPr kumimoji="0" lang="en-US" sz="3200" spc="-1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10779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0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+1.5% YoY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57200" y="3611880"/>
            <a:ext cx="320040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3803745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vs 비프랜차이즈 매출 </a:t>
            </a:r>
            <a:r>
              <a:rPr kumimoji="0" lang="ko-KR" alt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격차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4006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spc="-160" b="1" i="0" u="none" strike="noStrike" kern="0" cap="none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+1억원</a:t>
            </a:r>
            <a:endParaRPr kumimoji="0" lang="en-US" sz="3200" spc="-1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" y="447939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 새 격차 30% 확대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4983480"/>
            <a:ext cx="3200400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" y="5175345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 프랜차이즈 평균 매출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" y="5378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spc="-160" b="1" i="0" u="none" strike="noStrike" kern="0" cap="none" normalizeH="0" baseline="0" noProof="0" dirty="0">
                <a:ln>
                  <a:noFill/>
                </a:ln>
                <a:solidFill>
                  <a:srgbClr val="17437D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3.51억</a:t>
            </a:r>
            <a:r>
              <a:rPr kumimoji="0" lang="ko-KR" altLang="en-US" sz="3200" spc="-160" b="1" i="0" u="none" strike="noStrike" kern="0" cap="none" normalizeH="0" baseline="0" noProof="0" dirty="0">
                <a:ln>
                  <a:noFill/>
                </a:ln>
                <a:solidFill>
                  <a:srgbClr val="17437D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</a:t>
            </a:r>
            <a:endParaRPr kumimoji="0" lang="en-US" sz="3200" spc="-1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585099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0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+6.1% YoY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023360" y="2240280"/>
            <a:ext cx="7708392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297680" y="2423160"/>
            <a:ext cx="7159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외식 프랜차이즈 가맹점 수 추이 (2020–2024)</a:t>
            </a:r>
            <a:endParaRPr kumimoji="0" lang="en-US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297680" y="2743200"/>
            <a:ext cx="7159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개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21" name="Chart 0"/>
          <p:cNvGraphicFramePr/>
          <p:nvPr/>
        </p:nvGraphicFramePr>
        <p:xfrm>
          <a:off x="4206240" y="3017520"/>
          <a:ext cx="7342632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Text 18"/>
          <p:cNvSpPr/>
          <p:nvPr/>
        </p:nvSpPr>
        <p:spPr>
          <a:xfrm>
            <a:off x="4297680" y="5943600"/>
            <a:ext cx="7159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공정거래위원회 「가맹사업 현황 통계」 / 농림축산식품부 「외식업체 경영실태조사」 (2025)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11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5BA2176-D238-2A0D-F6AE-96D8B04C814F}"/>
              </a:ext>
            </a:extLst>
          </p:cNvPr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창업은 줄지만 표준화된 운영 모델을 찾는 수요는 늘고 있습니다.</a:t>
            </a:r>
            <a:endParaRPr kumimoji="0" lang="en-US" altLang="ko-KR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시장 규모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브랜드의 76.3%가 가맹점 10개 미만, 양극화된 구조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5029200" cy="402336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C2DEBECD-38F5-2983-AC4D-8D9F53473361}"/>
              </a:ext>
            </a:extLst>
          </p:cNvPr>
          <p:cNvGrpSpPr/>
          <p:nvPr/>
        </p:nvGrpSpPr>
        <p:grpSpPr>
          <a:xfrm>
            <a:off x="822960" y="2670021"/>
            <a:ext cx="4297680" cy="3275849"/>
            <a:chOff x="822960" y="2764663"/>
            <a:chExt cx="4297680" cy="3275849"/>
          </a:xfrm>
        </p:grpSpPr>
        <p:sp>
          <p:nvSpPr>
            <p:cNvPr id="7" name="Text 4"/>
            <p:cNvSpPr/>
            <p:nvPr/>
          </p:nvSpPr>
          <p:spPr>
            <a:xfrm>
              <a:off x="822960" y="2764663"/>
              <a:ext cx="4297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spc="0" b="1" i="0" u="none" strike="noStrike" kern="0" cap="none" normalizeH="0" baseline="0" noProof="0" dirty="0">
                  <a:ln>
                    <a:noFill/>
                  </a:ln>
                  <a:solidFill>
                    <a:srgbClr val="1456F0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BRAND CONCENTRATION</a:t>
              </a:r>
              <a:endPara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F0502020204030204"/>
                <a:ea typeface="+mn-ea"/>
                <a:cs typeface="+mn-cs"/>
              </a:endParaRPr>
            </a:p>
          </p:txBody>
        </p:sp>
        <p:sp>
          <p:nvSpPr>
            <p:cNvPr id="8" name="Text 5"/>
            <p:cNvSpPr/>
            <p:nvPr/>
          </p:nvSpPr>
          <p:spPr>
            <a:xfrm>
              <a:off x="822960" y="3135259"/>
              <a:ext cx="429768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800" spc="0" b="1" i="0" u="none" strike="noStrike" kern="0" cap="none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76.3</a:t>
              </a:r>
              <a:r>
                <a:rPr kumimoji="0" lang="en-US" altLang="ko-KR" sz="6000" spc="0" b="1" i="0" u="none" strike="noStrike" kern="0" cap="none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%</a:t>
              </a:r>
              <a:endParaRPr kumimoji="0" lang="en-US" sz="9800" spc="-49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F0502020204030204"/>
                <a:ea typeface="+mn-ea"/>
                <a:cs typeface="+mn-cs"/>
              </a:endParaRPr>
            </a:p>
          </p:txBody>
        </p:sp>
        <p:sp>
          <p:nvSpPr>
            <p:cNvPr id="10" name="Shape 7"/>
            <p:cNvSpPr/>
            <p:nvPr/>
          </p:nvSpPr>
          <p:spPr>
            <a:xfrm>
              <a:off x="822960" y="4758010"/>
              <a:ext cx="4297680" cy="9144"/>
            </a:xfrm>
            <a:prstGeom prst="rect">
              <a:avLst/>
            </a:prstGeom>
            <a:solidFill>
              <a:srgbClr val="E5E7EB"/>
            </a:solidFill>
            <a:ln w="12700">
              <a:solidFill>
                <a:srgbClr val="E5E7EB"/>
              </a:solidFill>
              <a:prstDash val="solid"/>
            </a:ln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spc="-90" b="0" i="0" u="none" strike="noStrike" kern="1200" cap="none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F0502020204030204"/>
                <a:ea typeface="Pretendard" panose="020B0503020000020004" pitchFamily="34" charset="-127"/>
                <a:cs typeface="+mn-cs"/>
              </a:endParaRPr>
            </a:p>
          </p:txBody>
        </p:sp>
        <p:sp>
          <p:nvSpPr>
            <p:cNvPr id="11" name="Text 8"/>
            <p:cNvSpPr/>
            <p:nvPr/>
          </p:nvSpPr>
          <p:spPr>
            <a:xfrm>
              <a:off x="822960" y="5034672"/>
              <a:ext cx="429768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spc="-70" b="0" i="0" u="none" strike="noStrike" kern="1200" cap="none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외식 프랜차이즈 브랜드 중</a:t>
              </a:r>
              <a:endPara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F050202020403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spc="-70" b="0" i="0" u="none" strike="noStrike" kern="1200" cap="none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가맹점 10개 미만을 운영하는 비중</a:t>
              </a:r>
              <a:endPara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9"/>
            <p:cNvSpPr/>
            <p:nvPr/>
          </p:nvSpPr>
          <p:spPr>
            <a:xfrm>
              <a:off x="822960" y="5766192"/>
              <a:ext cx="429768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spc="-55" b="0" i="0" u="none" strike="noStrike" kern="1200" cap="none" normalizeH="0" baseline="0" noProof="0" dirty="0">
                  <a:ln>
                    <a:noFill/>
                  </a:ln>
                  <a:solidFill>
                    <a:srgbClr val="8E8E93"/>
                  </a:solidFill>
                  <a:effectLst/>
                  <a:uLnTx/>
                  <a:uFillTx/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8,303개 브랜드 / 전년 74.5% → 2025년 76.3%로 비중 확대</a:t>
              </a:r>
              <a:endPara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retendard" panose="020F0502020204030204"/>
                <a:ea typeface="+mn-ea"/>
                <a:cs typeface="+mn-cs"/>
              </a:endParaRPr>
            </a:p>
          </p:txBody>
        </p:sp>
      </p:grpSp>
      <p:sp>
        <p:nvSpPr>
          <p:cNvPr id="13" name="Shape 10"/>
          <p:cNvSpPr/>
          <p:nvPr/>
        </p:nvSpPr>
        <p:spPr>
          <a:xfrm>
            <a:off x="5669280" y="2240280"/>
            <a:ext cx="6062472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43600" y="24231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43600" y="2423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시스템 효과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943600" y="2805720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spc="-7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매출이 비프랜차이즈를 47% 상회</a:t>
            </a:r>
            <a:endParaRPr kumimoji="0" lang="en-US" sz="1500" spc="-7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943600" y="3081528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프랜차이즈 평균 3.33억원 vs 비프랜차이즈 2.27억원. 격차는 7,400만원(2020) → 1억원+(2024)으로 확대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669280" y="3611880"/>
            <a:ext cx="6062472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5943600" y="37947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0" y="37947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압박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43600" y="4177320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spc="-7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치킨 차액가맹금 비율 9.5%로 최고 수준</a:t>
            </a:r>
            <a:endParaRPr kumimoji="0" lang="en-US" sz="1500" spc="-7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943600" y="4453128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치킨 가맹점 평균 차액가맹금 4,100만원·매출 대비 9.5%. 커피 7.3%, 제과제빵 4.9% 대비 부담 큰 구조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669280" y="4983480"/>
            <a:ext cx="6062472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943600" y="51663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943600" y="51663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격차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943600" y="5548920"/>
            <a:ext cx="5605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spc="-7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제과제빵·한식이 평균 매출 상위</a:t>
            </a:r>
            <a:endParaRPr kumimoji="0" lang="en-US" sz="1500" spc="-7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943600" y="5824728"/>
            <a:ext cx="5605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제과제빵 4.76억, 한식 3.86억, 치킨·피자 3.2억대. 주점은 전년 대비 감소세로 외식 카테고리 내 양극화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11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공정거래위원회 「2025 가맹사업 현황」, 농림축산식품부 「2025 외식업체 경영실태조사」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872E07F2-50B8-84D9-5A5A-20766FD404F8}"/>
              </a:ext>
            </a:extLst>
          </p:cNvPr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메이저 브랜드 소수가 시장을 끌고, 영세 브랜드가 꼬리를 늘립니다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치킨 빅3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bhc 6,147억으로 사상 첫 6,000억 돌파, BBQ·교촌 추격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731520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치킨 프랜차이즈 빅3 매출 추이 (가맹본부 별도 기준)</a:t>
            </a:r>
            <a:endParaRPr kumimoji="0" lang="en-US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억원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640080" y="3063240"/>
          <a:ext cx="69494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594360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금융감독원 전자공시시스템 (각 사 감사보고서, 2025)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7955280" y="2240280"/>
            <a:ext cx="3776472" cy="4023360"/>
          </a:xfrm>
          <a:prstGeom prst="roundRect">
            <a:avLst>
              <a:gd name="adj" fmla="val 4358"/>
            </a:avLst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275320" y="270433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spc="-5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치킨 프랜차이즈 압도적 </a:t>
            </a:r>
            <a:r>
              <a:rPr kumimoji="0" lang="en-US" altLang="ko-KR" sz="10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r>
              <a:rPr kumimoji="0" lang="ko-KR" altLang="en-US" sz="1000" spc="-5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 </a:t>
            </a:r>
            <a:r>
              <a:rPr kumimoji="0" lang="en-US" altLang="ko-KR" sz="10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‘bhc’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275320" y="3070098"/>
            <a:ext cx="3136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+19.9</a:t>
            </a:r>
            <a:r>
              <a:rPr kumimoji="0" lang="ko-KR" altLang="en-US" sz="2400" spc="-12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en-US" sz="36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%</a:t>
            </a:r>
            <a:endParaRPr kumimoji="0" lang="en-US" sz="5600" spc="-2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275320" y="4167378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bhc 2025년 매출 성장률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8275320" y="4623643"/>
            <a:ext cx="3136392" cy="9144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275320" y="4853178"/>
            <a:ext cx="3136392" cy="94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콰삭킹 700만개·스윗칠리킹 100만개 누적 판매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spc="-3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신메뉴 효과로 영업이익 1,645억(+23%)·영업이익률 26.7%로 빅3 중 압도적 1위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11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87C13186-9534-3464-9F74-9D6057F6B169}"/>
              </a:ext>
            </a:extLst>
          </p:cNvPr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2022년 1위 교체 이후 4년째 bhc 독주, 2025년 격차는 다시 1,000억대로 확대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치킨 빅3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가맹점 수 1위 BBQ, 점포당 매출 1위 교촌으로 1위가 갈립니다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5623560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42316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가맹점 수 (2024년 기준)</a:t>
            </a:r>
            <a:endParaRPr kumimoji="0" lang="en-US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개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640080" y="3063240"/>
          <a:ext cx="5257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731520" y="5943600"/>
            <a:ext cx="507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공정거래위원회 가맹사업 정보공개서 (2024)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263640" y="2240280"/>
            <a:ext cx="5468112" cy="4023360"/>
          </a:xfrm>
          <a:prstGeom prst="roundRect">
            <a:avLst>
              <a:gd name="adj" fmla="val 2955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537960" y="2423160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가맹점 평균 매출액 (2024년 기준)</a:t>
            </a:r>
            <a:endParaRPr kumimoji="0" lang="en-US" sz="1400" spc="-7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537960" y="2743200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만원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14" name="Chart 1"/>
          <p:cNvGraphicFramePr/>
          <p:nvPr/>
        </p:nvGraphicFramePr>
        <p:xfrm>
          <a:off x="6446520" y="3063240"/>
          <a:ext cx="510235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Text 10"/>
          <p:cNvSpPr/>
          <p:nvPr/>
        </p:nvSpPr>
        <p:spPr>
          <a:xfrm>
            <a:off x="6537960" y="5943600"/>
            <a:ext cx="4919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공정거래위원회 「2025 가맹사업 현황 통계」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11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교촌은 폐점률 1%대 안정 운영, BBQ는 면 단위 신규 출점 확대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64DF2842-AF85-13FF-6EBD-5BADF1EC527E}"/>
              </a:ext>
            </a:extLst>
          </p:cNvPr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전략(BBQ) vs 안정 전략(교촌). bhc는 두 지표 모두 2위로 균형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시사점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예비 창업자가 봐야 할 3가지 신호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402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00400" y="25603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0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spc="-8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매출보다 가맹점 매출</a:t>
            </a:r>
            <a:endParaRPr kumimoji="0" lang="en-US" sz="1700" spc="-8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9.5%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치킨 차액가맹금 비율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31520" y="5029200"/>
            <a:ext cx="31089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본사 매출 1위가 가맹점 수익 1위는 아닙니다. 교촌은 본사 매출 3위지만 점포당 매출은 7.27억으로 빅3 중 1위. 본사 외형보다 점포당 매출과 차액가맹금 비율부터 점검해야 합니다.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265676" y="22402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39996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008876" y="25603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08876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539996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spc="-8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포화 시장에선 입지 전략이 전부</a:t>
            </a:r>
            <a:endParaRPr kumimoji="0" lang="en-US" sz="1700" spc="-8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539996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+27%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539996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저가 커피 빅5 가맹점 증가율 (1년)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39996" y="5029200"/>
            <a:ext cx="31089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39996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이디야 옆 메가, 메가 옆 컴포즈 — 동일 상권 인접 출점이 표준이 되며 출혈 경쟁이 가속화. 입점 거리·동선·기존 점포 매출 추이까지 봐야 안전합니다.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074152" y="2240280"/>
            <a:ext cx="36576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2F3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348472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817352" y="256032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817352" y="2560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R&amp;D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348472" y="3017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spc="-8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신메뉴 회전율이 매출을 결정</a:t>
            </a:r>
            <a:endParaRPr kumimoji="0" lang="en-US" sz="1700" spc="-8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348472" y="3931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+19.9%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348472" y="4663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bhc 2025 매출 성장률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348472" y="5029200"/>
            <a:ext cx="310896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348472" y="51663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콰삭킹·스윗칠리킹 같은 시그니처 신메뉴가 빅3 순위를 갈랐습니다. 본사 R&amp;D 투자, 신메뉴 출시 주기, 가맹점 수용도까지 따져봐야 트렌드 변화에 살아남습니다.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/ 11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 Industry Insight · 2026.05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299B0B9-AF28-672A-9ED0-82813EA80FCC}"/>
              </a:ext>
            </a:extLst>
          </p:cNvPr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데이터가 말하는 외식 프랜차이즈 시장의 진입 가이드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WHY AI LITERACY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6명 중 1명이 이미 AI를 </a:t>
            </a:r>
            <a:r>
              <a:rPr kumimoji="0" lang="ko-KR" alt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쓰고 있습니다</a:t>
            </a:r>
            <a:r>
              <a:rPr kumimoji="0" lang="en-US" altLang="ko-KR" sz="30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kumimoji="0" lang="en-US" sz="3000" spc="-150" b="1" i="0" u="none" strike="noStrike" kern="0" cap="none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도입률 격차는 곧 국가 경쟁력 격차 — 한·중·일은 서로 다른 곡선 위에 있습니다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4937760" cy="3794760"/>
          </a:xfrm>
          <a:prstGeom prst="rect">
            <a:avLst/>
          </a:prstGeom>
          <a:solidFill>
            <a:srgbClr val="1456F0"/>
          </a:solidFill>
          <a:ln/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2960" y="2697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296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16.3%</a:t>
            </a:r>
            <a:endParaRPr kumimoji="0" lang="en-US" sz="11000" spc="-5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-80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세계 인구의 생성형 AI 사용률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50292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하반기 기준. 2024년 말 대비 8개월 만에 두 배 가까이 증가.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북부와 남부의 격차는 9.8%p에서 10.6%p로 더 벌어졌습니다.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623560" y="2331720"/>
            <a:ext cx="6110935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897880" y="2537750"/>
            <a:ext cx="5562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-8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- 글로벌 사용률 증가 1위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897880" y="2776765"/>
            <a:ext cx="5562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10월 대비 80% 이상 성장. 글로벌 평균(35%)·미국(25%)을 모두 앞질러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유료 가입자 세계 2위 시장으로 부상.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623560" y="3648456"/>
            <a:ext cx="6110935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897880" y="3854486"/>
            <a:ext cx="5562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-8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- 81.2%, 세계 최고 침투율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897880" y="4093501"/>
            <a:ext cx="5562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 등 무료·오픈소스 모델이 광범위하게 보급. 베이징은 2024년부터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초·중·고 AI 교육 연 8시간 의무화.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623560" y="4965192"/>
            <a:ext cx="6110935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897880" y="5171222"/>
            <a:ext cx="5562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-8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 - 26.7%, 가장 더딘 출발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897880" y="5410237"/>
            <a:ext cx="5562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총무성 정보통신백서 2025 기준 개인 사용률은 미·중·독에 크게 못 미치지만,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20대(44.7%)와 결제력 있는 사용자 중심 성장 잠재력.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 AI Diffusion Report 2025 H2 · Japan MIC, Information &amp; Communications White Paper 2025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USAGE COMPARISON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사용률 격차는 3배, 성장 곡선은 한국이 가장 가파르다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절대 침투율 1위는 중국이지만, 변화 속도로 보면 한국이 글로벌에서 가장 빠르게 따라잡는 중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2465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CHINA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682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81.2%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85800" y="3319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사용률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85800" y="35021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 톱 침투율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319272" y="2331720"/>
            <a:ext cx="2697480" cy="1508760"/>
          </a:xfrm>
          <a:prstGeom prst="rect">
            <a:avLst/>
          </a:prstGeom>
          <a:solidFill>
            <a:srgbClr val="1456F0"/>
          </a:solidFill>
          <a:ln w="12700">
            <a:solidFill>
              <a:srgbClr val="1456F0"/>
            </a:solidFill>
            <a:prstDash val="solid"/>
          </a:ln>
          <a:effectLst>
            <a:outerShdw blurRad="190500" dist="50800" dir="5400000" algn="bl" rotWithShape="0">
              <a:srgbClr val="2C1E74">
                <a:alpha val="16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47872" y="2465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47872" y="2682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30%+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547872" y="3319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사용률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47872" y="35021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+80% YoY 성장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181344" y="23317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9944" y="2465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JAPAN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409944" y="2682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26.7%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9944" y="3319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사용률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09944" y="35021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20대 44.7%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043416" y="23317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9272016" y="246583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272016" y="26822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spc="0" b="1" i="0" u="none" strike="noStrike" kern="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16.3%</a:t>
            </a:r>
            <a:endParaRPr kumimoji="0" lang="en-US" sz="4400" spc="-22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272016" y="3319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평균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9272016" y="35021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6명 중 1명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11277295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008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생성형 AI 사용률 — 주요국 비교 (2025)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0080" y="44074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단위: %, 인구 대비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29" name="Chart 0"/>
          <p:cNvGraphicFramePr/>
          <p:nvPr/>
        </p:nvGraphicFramePr>
        <p:xfrm>
          <a:off x="457200" y="4617720"/>
          <a:ext cx="11277295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Text 26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Japan Ministry of Internal Affairs and Communications, Information &amp; Communications White Paper 2025; Microsoft AI Diffusion Report 2025 H2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NATIONAL AI STRATEGY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전략 DNA가 다르다 — 톱다운·견인책·실무형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나라 모두 'AI 강국'을 외치지만, 누가 끌고 어떻게 끌어내는지의 설계가 정반대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3611880" cy="868680"/>
          </a:xfrm>
          <a:prstGeom prst="rect">
            <a:avLst/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3063240"/>
            <a:ext cx="3611880" cy="137160"/>
          </a:xfrm>
          <a:prstGeom prst="rect">
            <a:avLst/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731520" y="2450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spc="-11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</a:t>
            </a:r>
            <a:endParaRPr kumimoji="0" lang="en-US" sz="2200" spc="-11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민·관 견인 · 빠른 추격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31520" y="3337560"/>
            <a:ext cx="3063240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3337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  ·  2027년 글로벌 AI 3강 진입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3840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국가AI전략위원회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40416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2025.9 출범 · 대통령 직속, 부처+민간 47인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43891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기본법 제정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31520" y="45902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입법 — 진흥+안전 균형형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49377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디지털교과서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1520" y="51389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세계 최초 도입 (초·중·고)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54864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규모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" y="5687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2027년까지 약 9.4조 원 ($6.94B)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251960" y="233172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251960" y="2331720"/>
            <a:ext cx="3611880" cy="86868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251960" y="3063240"/>
            <a:ext cx="3611880" cy="137160"/>
          </a:xfrm>
          <a:prstGeom prst="rect">
            <a:avLst/>
          </a:prstGeom>
          <a:solidFill>
            <a:srgbClr val="222222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4526280" y="2450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spc="-11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</a:t>
            </a:r>
            <a:endParaRPr kumimoji="0" lang="en-US" sz="2200" spc="-11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2628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톱다운 · 장기 청사진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526280" y="3337560"/>
            <a:ext cx="3063240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617720" y="3337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  ·  2030년 세계 최고 AI 강국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526280" y="3840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차세대 AI 발전계획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526280" y="40416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2017년 발표, 8년째 일관된 국가 비전 추진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26280" y="43891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 전면 개혁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526280" y="45902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전국 학교 교과서 재설계·AI 교육과정 통합 (2025)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526280" y="49377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초·중·고 의무화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526280" y="51389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베이징 1,400여 개교 연 8시간 AI 수업 의무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526280" y="54864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무기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526280" y="5687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DeepSeek 무료 모델로 글로벌 사우스 진출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046720" y="2331720"/>
            <a:ext cx="36118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8046720" y="2331720"/>
            <a:ext cx="3611880" cy="868680"/>
          </a:xfrm>
          <a:prstGeom prst="rect">
            <a:avLst/>
          </a:prstGeom>
          <a:solidFill>
            <a:srgbClr val="45515E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046720" y="3063240"/>
            <a:ext cx="3611880" cy="137160"/>
          </a:xfrm>
          <a:prstGeom prst="rect">
            <a:avLst/>
          </a:prstGeom>
          <a:solidFill>
            <a:srgbClr val="45515E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321040" y="2450592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spc="-11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</a:t>
            </a:r>
            <a:endParaRPr kumimoji="0" lang="en-US" sz="2200" spc="-11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321040" y="2834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실무형 · 인재 핀포인트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321040" y="3337560"/>
            <a:ext cx="3063240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412480" y="3337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VISION  ·  AI×전공 융합 인재 연 2,000명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8321040" y="384048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전략 (2019~)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321040" y="404164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2,000명 AI 전문가 + 100명 톱클래스 양성 목표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321040" y="43891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정보Ⅰ 필수화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321040" y="459028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2022년부터 고교 공통 필수, 2024년 대입 출제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8321040" y="493776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고등전문학교 강화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321040" y="51389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5년제 실무형 엔지니어 양성 트랙 확대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321040" y="548640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규모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8321040" y="56875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컴퓨팅에 약 7,400억 원 + 빅테크 투자 유치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한국 AI 기본법(2025)·국가AI전략위원회 보도자료; 중국 국무원 차세대 AI 발전계획; 일본 文部科学省 AI 전략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K-12 AI EDUCATION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초·중·고 AI 교육 — 의무화한 나라와, 도구로 받아들인 나라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중국은 과목 자체를 의무로, 일본은 정보Ⅰ 필수로, 한국은 디지털 교과서로 — 무게중심이 다릅니다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11277295" cy="54864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11277295" cy="27432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331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항목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2926080" y="23317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923178" y="23317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920277" y="23317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11277295" cy="54864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필수화 시점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926080" y="288036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2024년~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923178" y="288036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2025년~ (디지털 교과서)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920277" y="288036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2022년~ (정보Ⅰ)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" y="342900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008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초등 단계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926080" y="342900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챗봇 만들기 등 체험형, 흥미·호기심 유발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23178" y="342900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기초소양 강화 (2022 개정 교육과정)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920277" y="342900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프로그래밍 교육 필수 (논리적 사고 함양)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57200" y="3977640"/>
            <a:ext cx="11277295" cy="54864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57200" y="397764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0080" y="3977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중·고 단계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2926080" y="397764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알고리즘·응용 → 프로젝트·창의 융합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923178" y="397764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AI·디지털 기초 + 정보 시수 확대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920277" y="397764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정보Ⅰ 공통 필수 (네트워크·DB·보안)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57200" y="452628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0080" y="4526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사례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926080" y="452628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베이징 연 8시간 의무 / 저장성 초1~고3 필수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923178" y="452628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AI중점학교 2,000개 육성 (교육부)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8920277" y="452628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아이치현 2029년 AI·디지털 고등전문학교 개교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57200" y="5074920"/>
            <a:ext cx="11277295" cy="54864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7200" y="5074920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40080" y="50749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교사 양성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926080" y="50749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사범대 AI 교육 전공 신설, 현직 재교육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923178" y="50749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교육부 AI인재국 신설 (2025.12)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920277" y="5074920"/>
            <a:ext cx="26313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spc="-52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고교 1교당 1명 ICT 인력 배치</a:t>
            </a:r>
            <a:endParaRPr kumimoji="0" lang="en-US" sz="1050" spc="-52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57200" y="5788152"/>
            <a:ext cx="11277295" cy="457200"/>
          </a:xfrm>
          <a:prstGeom prst="rect">
            <a:avLst/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31520" y="5788152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What  ·  중국은 '과목', 일본은 '필수 시간', 한국은 '도구(디지털 교과서)' — 같은 의무화도 결이 다릅니다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중국 교육부 차세대 AI 발전계획; 한국 교육부 AI 디지털교과서 추진계획; 日本 文部科学省 AI 전략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WORKPLACE &amp; GENERATION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직장은 양극화, 청년층은 모두 빠르다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BCG APAC 조사: 중국 직장인 70%가 AI에 낙관적 — 일본은 46%로 APAC 최저. 그러나 일본 20대도 44.7% 사용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85800" y="24963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APAC 직장인 'AI 낙관도' 비교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BCG, AI at Work 2025 (APAC 9개국·4,500명 조사)  ·  단위: %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594360" y="297180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6126480" y="2331720"/>
            <a:ext cx="5608015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00800" y="2468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kumimoji="0" lang="en-US" sz="3800" spc="-1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092440" y="2681511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ChatGPT MAU 중 20~40대 비중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092440" y="2742041"/>
            <a:ext cx="3413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활성 사용자 2,031만 명. AI 도구가 스마트폰 사용자의 </a:t>
            </a:r>
            <a:b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40%까지 침투하며 청년층이 시장 확장의 주력으로 작용.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26480" y="3657600"/>
            <a:ext cx="5608015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00800" y="379476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44.7%</a:t>
            </a:r>
            <a:endParaRPr kumimoji="0" lang="en-US" sz="3800" spc="-1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092440" y="4007391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 20대 생성형 AI 사용률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8092440" y="4067921"/>
            <a:ext cx="3413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평균 26.7%의 두 배에 가까움. 청년층이 'early adopter &amp; reference group' 역할 — 결제 의향과 신기술 수용도 모두 높음.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126480" y="4983480"/>
            <a:ext cx="5608015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400800" y="51206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21×</a:t>
            </a:r>
            <a:endParaRPr kumimoji="0" lang="en-US" sz="3800" spc="-1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092440" y="5333271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 AI 녹음앱 'Plaud' 하드웨어 매출 성장률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8092440" y="5393801"/>
            <a:ext cx="3413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운세형 AI 어시스턴트는 6개월간 47억 원 매출. 사용자 수는 </a:t>
            </a:r>
            <a:b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적어도 결제력은 글로벌 톱 — 일·한 시장의 공통점.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BCG, AI at Work 2025 (Oct 30); Antom Research, Japan/Korea GenAI Boom (Jan 2026)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ACTION ITEMS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한국이 채워야 할 5가지 격차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수치 KPI · 시간 단위 · 책임 부처를 명시한 실행 항목으로 정리했습니다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11277295" cy="640080"/>
          </a:xfrm>
          <a:prstGeom prst="rect">
            <a:avLst/>
          </a:prstGeom>
          <a:solidFill>
            <a:srgbClr val="181E2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-90" b="1" i="0" u="none" strike="noStrike" kern="0" cap="none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KOREA AI 2027  ·  글로벌 3강을 향한 5개 핵심 과제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3154680"/>
            <a:ext cx="2160361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3319272"/>
            <a:ext cx="1794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EDUCATION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3611880"/>
            <a:ext cx="179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초·중·고 AI 의무 시수 명문화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429768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spc="-13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8h+</a:t>
            </a:r>
            <a:endParaRPr kumimoji="0" lang="en-US" sz="2600" spc="-13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" y="4782312"/>
            <a:ext cx="1794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베이징 수준 의무화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" y="5074920"/>
            <a:ext cx="17946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교과서를 넘어 'AI 과목 시수'를 시·도 교육과정에 못 박는 단계로. 교사 재교육 의무 포함.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57200" y="5897880"/>
            <a:ext cx="2160361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" y="58978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교육부 · 시도교육청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736433" y="3154680"/>
            <a:ext cx="2160361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919313" y="3319272"/>
            <a:ext cx="1794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TALENT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919313" y="3611880"/>
            <a:ext cx="179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전문 인재 양성 KPI 수치화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919313" y="429768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spc="-13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2,000명</a:t>
            </a:r>
            <a:endParaRPr kumimoji="0" lang="en-US" sz="2600" spc="-13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919313" y="4782312"/>
            <a:ext cx="1794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전문가 + 100명 톱클래스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19313" y="5074920"/>
            <a:ext cx="17946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일본형 KPI 모델 도입. 학부 정원 확대, 학·석·박 패스트트랙, 산업 연계 PBL 표준화.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2736433" y="5897880"/>
            <a:ext cx="2160361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919313" y="58978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교육부 AI인재국 · 과기정통부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5015667" y="3154680"/>
            <a:ext cx="2160361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198547" y="3319272"/>
            <a:ext cx="1794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INVESTMENT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198547" y="3611880"/>
            <a:ext cx="179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민간 AI 투자 연 단위 가시화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198547" y="429768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$15B</a:t>
            </a:r>
            <a:endParaRPr kumimoji="0" lang="en-US" sz="2600" spc="-13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198547" y="4782312"/>
            <a:ext cx="1794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정부+민간 합산 5년 누적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198547" y="5074920"/>
            <a:ext cx="17946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9.4조 원 외에 민간 매칭을 포함한 통합 대시보드. 분기별 투입·산출 공개.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015667" y="5897880"/>
            <a:ext cx="2160361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198547" y="58978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기획재정부 · 산업은행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294900" y="3154680"/>
            <a:ext cx="2160361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477780" y="3319272"/>
            <a:ext cx="1794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WORKFORCE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477780" y="3611880"/>
            <a:ext cx="179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직장인 재교육 — 30시간 기준선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477780" y="429768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30h/yr</a:t>
            </a:r>
            <a:endParaRPr kumimoji="0" lang="en-US" sz="2600" spc="-13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7477780" y="4782312"/>
            <a:ext cx="1794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직장인 의무 권고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477780" y="5074920"/>
            <a:ext cx="17946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일자리 불안이 APAC 최상위. 사용 능력보다 '재배치 가능성'을 키우는 리스킬링 의무 권고.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7294900" y="5897880"/>
            <a:ext cx="2160361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477780" y="58978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고용노동부 · 산업통상자원부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9574134" y="3154680"/>
            <a:ext cx="2160361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9757014" y="3319272"/>
            <a:ext cx="17946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SOVEREIGNTY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9757014" y="3611880"/>
            <a:ext cx="17946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자체 LLM·인프라 보강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9757014" y="4297680"/>
            <a:ext cx="179460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Top-3</a:t>
            </a:r>
            <a:endParaRPr kumimoji="0" lang="en-US" sz="2600" spc="-13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9757014" y="4782312"/>
            <a:ext cx="17946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벤치마크 자국 모델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9757014" y="5074920"/>
            <a:ext cx="179460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spc="-48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결제력에 비해 자체 모델은 약함. 정부 발주 + 빅테크 매칭으로 한국어 모델 경쟁력 확보.</a:t>
            </a:r>
            <a:endParaRPr kumimoji="0" lang="en-US" sz="950" spc="-48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9574134" y="5897880"/>
            <a:ext cx="2160361" cy="365760"/>
          </a:xfrm>
          <a:prstGeom prst="rect">
            <a:avLst/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9757014" y="5897880"/>
            <a:ext cx="17946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과기정통부 · 민간 컨소시엄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 Recommendation · 2026.04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REFERENCES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및 인용 데이터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보고서에 활용된 주요 1차 자료 목록입니다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4008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&amp; USAGE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40080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Microsoft AI Diffusion Report 2025 H2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사용률·국가 순위 변화 (2026.01)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Japan MIC, Information &amp; Communications White Paper 2025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00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일본·미·중·독 개인 사용률 비교 (2025.07)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4008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BCG, AI at Work — Is APAC Leading the Way?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40080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9개국 4,500명 직장인 조사 (2025.10)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40080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Antom, Japan/Korea GenAI Boom 2026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청년층·결제력·시장 잠재력 분석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40080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Stanford HAI, AI Index Report 2025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0080" y="5760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AI 투자·모델 동향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48095" y="2331720"/>
            <a:ext cx="54864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430975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&amp; EDUCATION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30975" y="2926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교육부, AI 디지털교과서 추진계획 (2024)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430975" y="3200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 도입 + AI중점학교 2,000개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430975" y="3566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 AI 기본법 (2025)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430975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국가AI전략위원회 출범 근거 법령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30975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국무원, 차세대 AI 발전계획 (2017)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30975" y="4480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2030년 세계 최고 AI 강국 비전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430975" y="4846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中 교육부, 교사 AI 소양 향상 행동계획 (2022)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430975" y="5120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베이징 1,400교 의무화 근거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430975" y="54864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日 文部科学省, AI 전략 (2019~)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430975" y="5760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정보Ⅰ 필수 + 연 2,000명 인재 양성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Brandlogy AI Literacy Report 2026 · paperlogy×brandlogy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·  글로벌 시장 규모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성장은 둔화, 시장은 양극화.</a:t>
            </a: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도서 산업은 1~5%대 저성장 구간에 안착했습니다. 다만 종이책·전자책·오디오북·구독 모델이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‘각자 다른 속도로’ 움직이며 평균값 뒤에서 격차가 커지고 있습니다.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716454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2450592"/>
            <a:ext cx="2350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$143B</a:t>
            </a:r>
            <a:endParaRPr kumimoji="0" lang="en-US" sz="3000" spc="-1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8368" y="29992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글로벌 도서 시장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" y="3273552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Fortune Business Insights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10814" y="2286000"/>
            <a:ext cx="2716454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11982" y="2450592"/>
            <a:ext cx="2350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$202B</a:t>
            </a:r>
            <a:endParaRPr kumimoji="0" lang="en-US" sz="3000" spc="-1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11982" y="29992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2032년 예상 시장 규모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11982" y="3273552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+41% / 7년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64428" y="2286000"/>
            <a:ext cx="2716454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65596" y="2450592"/>
            <a:ext cx="2350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5.08%</a:t>
            </a:r>
            <a:endParaRPr kumimoji="0" lang="en-US" sz="3000" spc="-1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65596" y="29992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2025–2032 CAGR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65596" y="3273552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4사 추정 평균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018041" y="2286000"/>
            <a:ext cx="2716454" cy="1280160"/>
          </a:xfrm>
          <a:prstGeom prst="roundRect">
            <a:avLst>
              <a:gd name="adj" fmla="val 928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19209" y="2450592"/>
            <a:ext cx="23506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kumimoji="0" lang="en-US" sz="3000" spc="-1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219209" y="2999232"/>
            <a:ext cx="235069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소비 중 종이책 비중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219209" y="3273552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Growth Insights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199" y="3794760"/>
            <a:ext cx="11277295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87040" y="395641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Books Market Revenue, 2020–2032E ($B)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24" name="Chart 0"/>
          <p:cNvGraphicFramePr/>
          <p:nvPr/>
        </p:nvGraphicFramePr>
        <p:xfrm>
          <a:off x="766201" y="4251960"/>
          <a:ext cx="10659291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10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0" name="Text 26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Fortune Business Insights (2025), Mordor Intelligence (2026), Statista, Global Growth Insights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·  포맷별 점유율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종이책은 굳건하고, 오디오북은 폭발합니다</a:t>
            </a:r>
            <a:r>
              <a:rPr kumimoji="0" lang="en-US" altLang="ko-KR" sz="30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kumimoji="0" lang="en-US" sz="3000" spc="-150" b="1" i="0" u="none" strike="noStrike" kern="0" cap="none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포맷이 서로를 잠식하지 않습니다.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독자가 상황에 따라 종이·전자·오디오를 골라쓰는 ‘하이브리드 소비’로 굳어졌습니다.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76856"/>
            <a:ext cx="5943600" cy="38404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41401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포맷별 매출 비중 (2025)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8" name="Chart 0"/>
          <p:cNvGraphicFramePr/>
          <p:nvPr/>
        </p:nvGraphicFramePr>
        <p:xfrm>
          <a:off x="640080" y="2779776"/>
          <a:ext cx="2743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3566160" y="3274450"/>
            <a:ext cx="164592" cy="164592"/>
          </a:xfrm>
          <a:prstGeom prst="ellipse">
            <a:avLst/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822192" y="317386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종이책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822192" y="347561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글로벌 합산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3566160" y="3868810"/>
            <a:ext cx="164592" cy="164592"/>
          </a:xfrm>
          <a:prstGeom prst="ellipse">
            <a:avLst/>
          </a:prstGeom>
          <a:solidFill>
            <a:srgbClr val="60A5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822192" y="376822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22%</a:t>
            </a: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전자책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3822192" y="406997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$18B / 13.7% 침투율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3566160" y="4463170"/>
            <a:ext cx="164592" cy="164592"/>
          </a:xfrm>
          <a:prstGeom prst="ellipse">
            <a:avLst/>
          </a:prstGeom>
          <a:solidFill>
            <a:srgbClr val="17437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822192" y="436258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11%</a:t>
            </a: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오디오북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822192" y="466433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+23.8% YoY (US 기준)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3566160" y="5057530"/>
            <a:ext cx="164592" cy="164592"/>
          </a:xfrm>
          <a:prstGeom prst="ellipse">
            <a:avLst/>
          </a:prstGeom>
          <a:solidFill>
            <a:srgbClr val="F0F0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822192" y="495694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5%</a:t>
            </a: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기타·라이선스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3822192" y="525869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리프린트·라이선스 수익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6675120" y="2276856"/>
            <a:ext cx="5059375" cy="38404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6949440" y="2414016"/>
            <a:ext cx="45107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포맷별 성장 속도 비교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6949440" y="2688336"/>
            <a:ext cx="4510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연평균 매출 성장률 (CAGR)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903720" y="309981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오디오북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Shape 21"/>
          <p:cNvSpPr/>
          <p:nvPr/>
        </p:nvSpPr>
        <p:spPr>
          <a:xfrm>
            <a:off x="8046720" y="3172968"/>
            <a:ext cx="3322015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8046720" y="3172968"/>
            <a:ext cx="2923373" cy="201168"/>
          </a:xfrm>
          <a:prstGeom prst="roundRect">
            <a:avLst>
              <a:gd name="adj" fmla="val 22727"/>
            </a:avLst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11015813" y="31181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+26.4%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6903720" y="373989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전자책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8046720" y="3813048"/>
            <a:ext cx="3322015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046720" y="3813048"/>
            <a:ext cx="529308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621748" y="37581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+4.78%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Text 28"/>
          <p:cNvSpPr/>
          <p:nvPr/>
        </p:nvSpPr>
        <p:spPr>
          <a:xfrm>
            <a:off x="6903720" y="43799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시장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8046720" y="4453128"/>
            <a:ext cx="3322015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4" name="Shape 30"/>
          <p:cNvSpPr/>
          <p:nvPr/>
        </p:nvSpPr>
        <p:spPr>
          <a:xfrm>
            <a:off x="8046720" y="4453128"/>
            <a:ext cx="344382" cy="201168"/>
          </a:xfrm>
          <a:prstGeom prst="roundRect">
            <a:avLst>
              <a:gd name="adj" fmla="val 22727"/>
            </a:avLst>
          </a:prstGeom>
          <a:solidFill>
            <a:srgbClr val="17437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5" name="Text 31"/>
          <p:cNvSpPr/>
          <p:nvPr/>
        </p:nvSpPr>
        <p:spPr>
          <a:xfrm>
            <a:off x="8436822" y="43982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+3.11%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6903720" y="50200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종이책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7" name="Shape 33"/>
          <p:cNvSpPr/>
          <p:nvPr/>
        </p:nvSpPr>
        <p:spPr>
          <a:xfrm>
            <a:off x="8046720" y="5093208"/>
            <a:ext cx="3322015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8046720" y="5093208"/>
            <a:ext cx="45720" cy="201168"/>
          </a:xfrm>
          <a:prstGeom prst="roundRect">
            <a:avLst>
              <a:gd name="adj" fmla="val 100000"/>
            </a:avLst>
          </a:prstGeom>
          <a:solidFill>
            <a:srgbClr val="8E8E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8138160" y="50383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+0.37%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6949440" y="5493394"/>
            <a:ext cx="45107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오디오북은 종이책 대비 약 70배 빠른 속도로 자라는 중입니다. </a:t>
            </a:r>
            <a:b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다만 종이책 매출은 줄지 않</a:t>
            </a:r>
            <a:r>
              <a:rPr kumimoji="0" lang="ko-KR" alt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 있습니다</a:t>
            </a:r>
            <a:r>
              <a:rPr kumimoji="0" lang="en-US" altLang="ko-KR" sz="1100" spc="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kumimoji="0" lang="en-US" sz="1100" spc="-55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새로 ‘덧붙어’ 자라는 시장입니다.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1" name="Text 37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10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2" name="Text 38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Grand View Research, Statista, AAP, Toner Buzz Reading Habits Survey 2025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·  오디오북의 부상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통근·운동·설거지</a:t>
            </a:r>
            <a:r>
              <a:rPr kumimoji="0" lang="en-US" altLang="ko-KR" sz="30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‘죽은 시간’이 새 독서 시간이 됐습니다</a:t>
            </a:r>
            <a:r>
              <a:rPr kumimoji="0" lang="en-US" altLang="ko-KR" sz="30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kumimoji="0" lang="en-US" sz="3000" spc="-150" b="1" i="0" u="none" strike="noStrike" kern="0" cap="none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오디오북 시장은 2025년 $7.85B → 2030년 $35B, 5년 만에 4.5배. 시간 점유율 경쟁에서 이긴 포맷입니다.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76856"/>
            <a:ext cx="6675120" cy="38404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41401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Global Audiobook Market, 2023–2030E ($B)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2688336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CAGR 26.4% — 출판 산업 내 단일 최고 성장 부문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graphicFrame>
        <p:nvGraphicFramePr>
          <p:cNvPr id="9" name="Chart 0"/>
          <p:cNvGraphicFramePr/>
          <p:nvPr/>
        </p:nvGraphicFramePr>
        <p:xfrm>
          <a:off x="640080" y="3054096"/>
          <a:ext cx="63093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7406640" y="2276856"/>
            <a:ext cx="4327855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7635240" y="2441448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44.9%</a:t>
            </a:r>
            <a:endParaRPr kumimoji="0" lang="en-US" sz="2200" spc="-11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635240" y="2843784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북미 — 지역별 1위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635240" y="3081528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Audible · Spotify Audiobook · Apple Books가 본진을 잡고 있습니다.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7406640" y="3593592"/>
            <a:ext cx="4327855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635240" y="3758184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spc="0" b="1" i="0" u="none" strike="noStrike" kern="0" cap="none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+12,000%</a:t>
            </a:r>
            <a:endParaRPr kumimoji="0" lang="en-US" sz="2200" spc="-11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635240" y="4160520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Audible 앱 매출 (2020–2025)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7635240" y="4398264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모델이 ‘월 정기 결제’로 LTV를 끌어올렸습니다. ’24년만 $440M.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406640" y="4910328"/>
            <a:ext cx="4327855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635240" y="5074920"/>
            <a:ext cx="3870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spc="0" b="1" i="0" u="none" strike="noStrike" kern="0" cap="none" normalizeH="0" baseline="0" noProof="0" dirty="0">
                <a:ln>
                  <a:noFill/>
                </a:ln>
                <a:solidFill>
                  <a:srgbClr val="17437D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40,000+</a:t>
            </a:r>
            <a:endParaRPr kumimoji="0" lang="en-US" sz="2200" spc="-11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7635240" y="5477256"/>
            <a:ext cx="3870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내레이션 타이틀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7635240" y="5715000"/>
            <a:ext cx="3870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Audible이 공개한 AI 음성 도서. 다국어 100개 음성 — 제작비 80% 절감.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10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Grand View Research, Mordor Intelligence (2026), Appfigures, PublishDrive 2025 Report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·  지역별 시장 구도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북미는 매출, 아시아·태평양은 성장률을 가져갔습니다</a:t>
            </a:r>
            <a:r>
              <a:rPr kumimoji="0" lang="en-US" altLang="ko-KR" sz="30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kumimoji="0" lang="en-US" sz="3000" spc="-150" b="1" i="0" u="none" strike="noStrike" kern="0" cap="none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북미·유럽이 절반 이상의 매출을 점유하지만, 향후 5년간 가장 빠르게 자라는 곳은 아시아·태평양과 중동·아프리카입니다.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76856"/>
            <a:ext cx="6035040" cy="38404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731520" y="2414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지역별 매출 점유율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5800" y="29626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Asia-Pacific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2331720" y="3035808"/>
            <a:ext cx="3474720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331720" y="3035808"/>
            <a:ext cx="3184581" cy="201168"/>
          </a:xfrm>
          <a:prstGeom prst="roundRect">
            <a:avLst>
              <a:gd name="adj" fmla="val 22727"/>
            </a:avLst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021489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36.7%  </a:t>
            </a:r>
            <a:r>
              <a:rPr kumimoji="0" lang="ko-KR" altLang="en-US" sz="1100" spc="-55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$52.4B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85800" y="3529584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Europe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331720" y="3602736"/>
            <a:ext cx="3474720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2331720" y="3602736"/>
            <a:ext cx="2558263" cy="201168"/>
          </a:xfrm>
          <a:prstGeom prst="roundRect">
            <a:avLst>
              <a:gd name="adj" fmla="val 22727"/>
            </a:avLst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63135" y="35478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29.4%   $42.1B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85800" y="4096512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North America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2331720" y="4169664"/>
            <a:ext cx="3474720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31720" y="4169664"/>
            <a:ext cx="2072670" cy="201168"/>
          </a:xfrm>
          <a:prstGeom prst="roundRect">
            <a:avLst>
              <a:gd name="adj" fmla="val 22727"/>
            </a:avLst>
          </a:prstGeom>
          <a:solidFill>
            <a:srgbClr val="60A5F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477542" y="41148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23.9%   $34.1B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85800" y="466344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South America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2331720" y="4736592"/>
            <a:ext cx="3474720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2331720" y="4736592"/>
            <a:ext cx="535107" cy="201168"/>
          </a:xfrm>
          <a:prstGeom prst="roundRect">
            <a:avLst>
              <a:gd name="adj" fmla="val 22727"/>
            </a:avLst>
          </a:prstGeom>
          <a:solidFill>
            <a:srgbClr val="17437D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939979" y="46817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6.2%   $8.8B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85800" y="523036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Middle East &amp; Africa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2331720" y="5303520"/>
            <a:ext cx="3474720" cy="201168"/>
          </a:xfrm>
          <a:prstGeom prst="roundRect">
            <a:avLst>
              <a:gd name="adj" fmla="val 22727"/>
            </a:avLst>
          </a:prstGeom>
          <a:solidFill>
            <a:srgbClr val="F2F3F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331720" y="5303520"/>
            <a:ext cx="442158" cy="201168"/>
          </a:xfrm>
          <a:prstGeom prst="roundRect">
            <a:avLst>
              <a:gd name="adj" fmla="val 22727"/>
            </a:avLst>
          </a:prstGeom>
          <a:solidFill>
            <a:srgbClr val="8E8E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847030" y="52486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5.1%   $7.3B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31520" y="5843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아시아-태평양: 중국·인도·일본·인도네시아 4개국 합산이 전체의 28% 차지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766560" y="2276856"/>
            <a:ext cx="4967935" cy="384048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40880" y="2414016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spc="-6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2026–2031 예상 CAGR</a:t>
            </a:r>
            <a:endParaRPr kumimoji="0" lang="en-US" sz="1300" spc="-6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040880" y="2688336"/>
            <a:ext cx="441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spc="-5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성장률은 신흥시장이 가져갑니다</a:t>
            </a:r>
            <a:endParaRPr kumimoji="0" lang="en-US" sz="1000" spc="-5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040880" y="3118104"/>
            <a:ext cx="54864" cy="329184"/>
          </a:xfrm>
          <a:prstGeom prst="rect">
            <a:avLst/>
          </a:prstGeom>
          <a:solidFill>
            <a:srgbClr val="1456F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7223760" y="3100751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MENA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0820095" y="31104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0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7.0%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223760" y="3282135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사우디 ‘$2.5B 시장’이 견인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7040880" y="3685032"/>
            <a:ext cx="54864" cy="329184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223760" y="3667679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Asia-Pacific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820095" y="36773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4.13%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7223760" y="3849063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중국 디지털 38% 침투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040880" y="4251960"/>
            <a:ext cx="54864" cy="329184"/>
          </a:xfrm>
          <a:prstGeom prst="rect">
            <a:avLst/>
          </a:prstGeom>
          <a:solidFill>
            <a:srgbClr val="8E8E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7223760" y="4234607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South America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0820095" y="42443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3.5%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7223760" y="4415991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문해율 정책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7040880" y="4818888"/>
            <a:ext cx="54864" cy="329184"/>
          </a:xfrm>
          <a:prstGeom prst="rect">
            <a:avLst/>
          </a:prstGeom>
          <a:solidFill>
            <a:srgbClr val="8E8E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223760" y="4801535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Europe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820095" y="48112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2.4%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7223760" y="4982919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독일·UK 안정 성장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7040880" y="5385816"/>
            <a:ext cx="54864" cy="329184"/>
          </a:xfrm>
          <a:prstGeom prst="rect">
            <a:avLst/>
          </a:prstGeom>
          <a:solidFill>
            <a:srgbClr val="8E8E9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7223760" y="5368463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North America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0820095" y="53781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spc="0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1.8%</a:t>
            </a:r>
            <a:endParaRPr kumimoji="0" lang="en-US" sz="1600" spc="-8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223760" y="5549847"/>
            <a:ext cx="4327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성숙시장, 오디오 견인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10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Mordor Intelligence (2026), Fortune Business Insights, Grand View Research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·  핵심 트렌드 ① BookTok</a:t>
            </a:r>
            <a:endParaRPr kumimoji="0" lang="en-US" sz="1100" spc="-55" b="1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57200" y="91440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spc="-15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독자가 출판사를 넘어 ‘발견 권한’을 가져갔습니다</a:t>
            </a:r>
            <a:r>
              <a:rPr kumimoji="0" lang="en-US" altLang="ko-KR" sz="3000" spc="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kumimoji="0" lang="en-US" sz="3000" spc="-150" b="1" i="0" u="none" strike="noStrike" kern="0" cap="none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1490472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spc="-7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TikTok #BookTok 누적 조회수 2,000억 회. 알고리즘이 편집자보다 먼저 베스트셀러를 골라냅니다.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457200" y="2286000"/>
            <a:ext cx="2716454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24231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200B+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8368" y="2926080"/>
            <a:ext cx="2350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BookTok 누적 조회수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658368" y="3246120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말 기준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310814" y="2286000"/>
            <a:ext cx="2716454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11982" y="24231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+23%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511982" y="2926080"/>
            <a:ext cx="2350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BookTok 작가의 인쇄본 매출 성장률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11982" y="3246120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vs. 시장 평균 +6%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164428" y="2286000"/>
            <a:ext cx="2716454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65596" y="24231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320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65596" y="2926080"/>
            <a:ext cx="2350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 스타트업 (2022~)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65596" y="3246120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ChatGPT 공개 이후 신규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018041" y="2286000"/>
            <a:ext cx="2716454" cy="1234440"/>
          </a:xfrm>
          <a:prstGeom prst="roundRect">
            <a:avLst>
              <a:gd name="adj" fmla="val 963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219209" y="2423160"/>
            <a:ext cx="23506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spc="0" b="1" i="0" u="none" strike="noStrike" kern="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11~12</a:t>
            </a:r>
            <a:endParaRPr kumimoji="0" lang="en-US" sz="2800" spc="-14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219209" y="2926080"/>
            <a:ext cx="23506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spc="-55" b="1" i="0" u="none" strike="noStrike" kern="120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월간 평균 독서량 (권)</a:t>
            </a:r>
            <a:endParaRPr kumimoji="0" lang="en-US" sz="1100" spc="-5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9219209" y="3246120"/>
            <a:ext cx="2350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2023년 9~10권 → 2025년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3703320"/>
            <a:ext cx="3637178" cy="2423160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521409" y="4109204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21409" y="41092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발견의 권력 이동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85800" y="4660644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-9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편집자 → 알고리즘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5800" y="5074920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출판사가 책을 ‘론칭’하는 대신, 독자가 영상을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만들고 알고리즘이 확산합니다. 오프라인 신간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매대보다 30초 리뷰가 빠릅니다.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277258" y="3703320"/>
            <a:ext cx="3637178" cy="2423160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5341467" y="4109204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341467" y="41092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장르의 재편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4505858" y="4660644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-9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‘로만타지(Romantasy)’의 부상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505858" y="5074920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로맨스+판타지 결합 장르가 BookTok을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점령했습니다. Sarah J. Maas, Rebecca Yarros </a:t>
            </a:r>
            <a:b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</a:b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신흥 작가가 시리즈로 베스트셀러 진입.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8097317" y="3703320"/>
            <a:ext cx="3637178" cy="2423160"/>
          </a:xfrm>
          <a:prstGeom prst="roundRect">
            <a:avLst>
              <a:gd name="adj" fmla="val 490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9161526" y="4109204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BFDBFE"/>
          </a:solidFill>
          <a:ln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spc="-90" b="0" i="0" u="none" strike="noStrike" kern="1200" cap="none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Pretendard" panose="020B0503020000020004" pitchFamily="34" charset="-127"/>
              <a:cs typeface="+mn-cs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9161526" y="4109204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-45" b="1" i="0" u="none" strike="noStrike" kern="1200" cap="none" normalizeH="0" baseline="0" noProof="0" dirty="0">
                <a:ln>
                  <a:noFill/>
                </a:ln>
                <a:solidFill>
                  <a:srgbClr val="1456F0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출판사의 대응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325917" y="4660644"/>
            <a:ext cx="3179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spc="-90" b="1" i="0" u="none" strike="noStrike" kern="0" cap="none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‘BookTok 매니저’ 채용</a:t>
            </a:r>
            <a:endParaRPr kumimoji="0" lang="en-US" sz="1800" spc="-9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325917" y="5074920"/>
            <a:ext cx="317997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8th Note Press 같은 신규 임프린트가 등장.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빅5 출판사도 전담 인력을 두고 ARC를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spc="-60" b="0" i="0" u="none" strike="noStrike" kern="1200" cap="none" normalizeH="0" baseline="0" noProof="0" dirty="0">
                <a:ln>
                  <a:noFill/>
                </a:ln>
                <a:solidFill>
                  <a:srgbClr val="45515E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인플루언서에게 우선 배포합니다.</a:t>
            </a:r>
            <a:endParaRPr kumimoji="0" lang="en-US" sz="1200" spc="-6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57200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10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50520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spc="0" b="0" i="0" u="none" strike="noStrike" kern="1200" cap="none" normalizeH="0" baseline="0" noProof="0" dirty="0">
                <a:ln>
                  <a:noFill/>
                </a:ln>
                <a:solidFill>
                  <a:srgbClr val="8E8E93"/>
                </a:solidFill>
                <a:effectLst/>
                <a:uLnTx/>
                <a:uFillTx/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Pages &amp; Prose, The Conversation, PublishDrive (2024–2025)</a:t>
            </a:r>
            <a:endParaRPr kumimoji="0" lang="en-US" sz="900" spc="-45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/>
        </p:nvSpPr>
        <p:spPr>
          <a:xfrm>
            <a:off x="457200" y="1828800"/>
            <a:ext cx="8000000" cy="27432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/>
            <a:r>
              <a:rPr lang="ko-KR" sz="1100" b="1" spc="0" dirty="0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BRANDLOGY INDUSTRY INSIGHT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2240280"/>
            <a:ext cx="10500000" cy="18288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6000"/>
              </a:lnSpc>
            </a:pPr>
            <a:r>
              <a:rPr lang="ko-KR" sz="5400" b="1" spc="-27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산업의 변화를 읽는</a:t>
            </a:r>
          </a:p>
          <a:p>
            <a:pPr algn="l">
              <a:lnSpc>
                <a:spcPct val="106000"/>
              </a:lnSpc>
            </a:pPr>
            <a:r>
              <a:rPr lang="ko-KR" sz="5400" b="1" spc="-27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데이터 인사이트 리포트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43434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" name="sub"/>
          <p:cNvSpPr>
            <a:spLocks noGrp="1"/>
          </p:cNvSpPr>
          <p:nvPr/>
        </p:nvSpPr>
        <p:spPr>
          <a:xfrm>
            <a:off x="457200" y="4617720"/>
            <a:ext cx="9500000" cy="36576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/>
            <a:r>
              <a:rPr lang="ko-KR" sz="1800" spc="-9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시장 구조와 핵심 지표로 본 2026년 전망</a:t>
            </a:r>
          </a:p>
        </p:txBody>
      </p:sp>
      <p:sp>
        <p:nvSpPr>
          <p:cNvPr id="6" name="foot"/>
          <p:cNvSpPr>
            <a:spLocks noGrp="1"/>
          </p:cNvSpPr>
          <p:nvPr/>
        </p:nvSpPr>
        <p:spPr>
          <a:xfrm>
            <a:off x="457200" y="6172200"/>
            <a:ext cx="9000000" cy="228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/>
            <a:r>
              <a:rPr lang="ko-KR" sz="1000" spc="0" dirty="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2026. 06   ·   Brandlogy Research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/>
        </p:nvSpPr>
        <p:spPr>
          <a:xfrm>
            <a:off x="457200" y="1828800"/>
            <a:ext cx="8000000" cy="27432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/>
            <a:r>
              <a:rPr lang="ko-KR" sz="1100" b="1" spc="0" dirty="0">
                <a:solidFill>
                  <a:srgbClr val="1456F0"/>
                </a:solidFill>
                <a:latin typeface="Pretendard"/>
                <a:ea typeface="Pretendard"/>
                <a:cs typeface="Pretendard"/>
              </a:rPr>
              <a:t>THANK YOU</a:t>
            </a:r>
          </a:p>
        </p:txBody>
      </p:sp>
      <p:sp>
        <p:nvSpPr>
          <p:cNvPr id="3" name="title"/>
          <p:cNvSpPr>
            <a:spLocks noGrp="1"/>
          </p:cNvSpPr>
          <p:nvPr/>
        </p:nvSpPr>
        <p:spPr>
          <a:xfrm>
            <a:off x="457200" y="2240280"/>
            <a:ext cx="10500000" cy="1100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/>
            <a:r>
              <a:rPr lang="ko-KR" sz="5400" b="1" spc="-270" dirty="0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감사합니다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3886200"/>
            <a:ext cx="640080" cy="64008"/>
          </a:xfrm>
          <a:prstGeom prst="rect">
            <a:avLst/>
          </a:prstGeom>
          <a:solidFill>
            <a:srgbClr val="1456F0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5" name="sub"/>
          <p:cNvSpPr>
            <a:spLocks noGrp="1"/>
          </p:cNvSpPr>
          <p:nvPr/>
        </p:nvSpPr>
        <p:spPr>
          <a:xfrm>
            <a:off x="457200" y="4160520"/>
            <a:ext cx="9500000" cy="36576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/>
            <a:r>
              <a:rPr lang="ko-KR" sz="1800" spc="-90" dirty="0">
                <a:solidFill>
                  <a:srgbClr val="45515E"/>
                </a:solidFill>
                <a:latin typeface="Pretendard"/>
                <a:ea typeface="Pretendard"/>
                <a:cs typeface="Pretendard"/>
              </a:rPr>
              <a:t>끝까지 읽어주셔서 감사합니다</a:t>
            </a:r>
          </a:p>
        </p:txBody>
      </p:sp>
      <p:sp>
        <p:nvSpPr>
          <p:cNvPr id="6" name="foot"/>
          <p:cNvSpPr>
            <a:spLocks noGrp="1"/>
          </p:cNvSpPr>
          <p:nvPr/>
        </p:nvSpPr>
        <p:spPr>
          <a:xfrm>
            <a:off x="457200" y="6172200"/>
            <a:ext cx="9000000" cy="228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/>
            <a:r>
              <a:rPr lang="ko-KR" sz="1000" spc="0" dirty="0">
                <a:solidFill>
                  <a:srgbClr val="8E8E93"/>
                </a:solidFill>
                <a:latin typeface="Pretendard"/>
                <a:ea typeface="Pretendard"/>
                <a:cs typeface="Pretendard"/>
              </a:rPr>
              <a:t>contact@your-logo.com   ·   your-logo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0F0502020204030204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2869</Words>
  <Application>Microsoft Macintosh PowerPoint</Application>
  <PresentationFormat>와이드스크린</PresentationFormat>
  <Paragraphs>429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Pretendard</vt:lpstr>
      <vt:lpstr>Arial</vt:lpstr>
      <vt:lpstr>Calibri</vt:lpstr>
      <vt:lpstr>2_Office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Kim</dc:creator>
  <cp:lastModifiedBy>Matthew Kim</cp:lastModifiedBy>
  <cp:revision>2</cp:revision>
  <dcterms:created xsi:type="dcterms:W3CDTF">2026-05-01T14:56:49Z</dcterms:created>
  <dcterms:modified xsi:type="dcterms:W3CDTF">2026-05-04T07:14:27Z</dcterms:modified>
</cp:coreProperties>
</file>